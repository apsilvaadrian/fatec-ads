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5193bf3acff4343" /><Relationship Type="http://schemas.openxmlformats.org/officeDocument/2006/relationships/extended-properties" Target="/docProps/app.xml" Id="R724b88c11c3b4ed9" /><Relationship Type="http://schemas.openxmlformats.org/officeDocument/2006/relationships/officeDocument" Target="/ppt/presentation.xml" Id="Re2174f0a3fd14691" /></Relationships>
</file>

<file path=ppt/presentation.xml><?xml version="1.0" encoding="utf-8"?>
<p:presentation xmlns:p="http://schemas.openxmlformats.org/presentationml/2006/main">
  <p:sldMasterIdLst>
    <p:sldMasterId xmlns:r="http://schemas.openxmlformats.org/officeDocument/2006/relationships" id="2147483648" r:id="R23b275a5c24f4b2b"/>
  </p:sldMasterIdLst>
  <p:notesMasterIdLst>
    <p:notesMasterId xmlns:r="http://schemas.openxmlformats.org/officeDocument/2006/relationships" r:id="R56f8e197164c4c1b"/>
  </p:notesMasterIdLst>
  <p:sldIdLst>
    <p:sldId xmlns:r="http://schemas.openxmlformats.org/officeDocument/2006/relationships" id="256" r:id="R8e8f5a5f3feb4635"/>
    <p:sldId xmlns:r="http://schemas.openxmlformats.org/officeDocument/2006/relationships" id="257" r:id="Ra59cbc209cc043a8"/>
    <p:sldId xmlns:r="http://schemas.openxmlformats.org/officeDocument/2006/relationships" id="258" r:id="R32753d05d69347ea"/>
    <p:sldId xmlns:r="http://schemas.openxmlformats.org/officeDocument/2006/relationships" id="259" r:id="Rb1d9d3fd2456439d"/>
    <p:sldId xmlns:r="http://schemas.openxmlformats.org/officeDocument/2006/relationships" id="260" r:id="R3dedd12b005646d4"/>
    <p:sldId xmlns:r="http://schemas.openxmlformats.org/officeDocument/2006/relationships" id="261" r:id="R24ba52f3060f49b3"/>
    <p:sldId xmlns:r="http://schemas.openxmlformats.org/officeDocument/2006/relationships" id="262" r:id="Rf70759d9a6724898"/>
    <p:sldId xmlns:r="http://schemas.openxmlformats.org/officeDocument/2006/relationships" id="263" r:id="Rcfee62efd7c34c4b"/>
    <p:sldId xmlns:r="http://schemas.openxmlformats.org/officeDocument/2006/relationships" id="264" r:id="R18230cea31234e41"/>
    <p:sldId xmlns:r="http://schemas.openxmlformats.org/officeDocument/2006/relationships" id="265" r:id="R30766054a41b499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c879e3559643d9" /><Relationship Type="http://schemas.openxmlformats.org/officeDocument/2006/relationships/slideMaster" Target="/ppt/slideMasters/slideMaster1.xml" Id="R23b275a5c24f4b2b" /><Relationship Type="http://schemas.openxmlformats.org/officeDocument/2006/relationships/notesMaster" Target="/ppt/notesMasters/notesMaster1.xml" Id="R56f8e197164c4c1b" /><Relationship Type="http://schemas.openxmlformats.org/officeDocument/2006/relationships/presProps" Target="/ppt/presProps.xml" Id="R1730d84d8dc74fca" /><Relationship Type="http://schemas.openxmlformats.org/officeDocument/2006/relationships/tableStyles" Target="/ppt/tableStyles.xml" Id="Rf35d2239b69a481e" /><Relationship Type="http://schemas.openxmlformats.org/officeDocument/2006/relationships/slide" Target="/ppt/slides/slide1.xml" Id="R8e8f5a5f3feb4635" /><Relationship Type="http://schemas.openxmlformats.org/officeDocument/2006/relationships/slide" Target="/ppt/slides/slide2.xml" Id="Ra59cbc209cc043a8" /><Relationship Type="http://schemas.openxmlformats.org/officeDocument/2006/relationships/slide" Target="/ppt/slides/slide3.xml" Id="R32753d05d69347ea" /><Relationship Type="http://schemas.openxmlformats.org/officeDocument/2006/relationships/slide" Target="/ppt/slides/slide4.xml" Id="Rb1d9d3fd2456439d" /><Relationship Type="http://schemas.openxmlformats.org/officeDocument/2006/relationships/slide" Target="/ppt/slides/slide5.xml" Id="R3dedd12b005646d4" /><Relationship Type="http://schemas.openxmlformats.org/officeDocument/2006/relationships/slide" Target="/ppt/slides/slide6.xml" Id="R24ba52f3060f49b3" /><Relationship Type="http://schemas.openxmlformats.org/officeDocument/2006/relationships/slide" Target="/ppt/slides/slide7.xml" Id="Rf70759d9a6724898" /><Relationship Type="http://schemas.openxmlformats.org/officeDocument/2006/relationships/slide" Target="/ppt/slides/slide8.xml" Id="Rcfee62efd7c34c4b" /><Relationship Type="http://schemas.openxmlformats.org/officeDocument/2006/relationships/slide" Target="/ppt/slides/slide9.xml" Id="R18230cea31234e41" /><Relationship Type="http://schemas.openxmlformats.org/officeDocument/2006/relationships/slide" Target="/ppt/slides/slide10.xml" Id="R30766054a41b499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8708afd13ca4e9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c2c808893264146" /><Relationship Type="http://schemas.openxmlformats.org/officeDocument/2006/relationships/notesMaster" Target="/ppt/notesMasters/notesMaster1.xml" Id="R552eb123ac33425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238b4aa94b4793" /><Relationship Type="http://schemas.openxmlformats.org/officeDocument/2006/relationships/notesMaster" Target="/ppt/notesMasters/notesMaster1.xml" Id="R242d46b71ff947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202dc638f5a6464f" /><Relationship Type="http://schemas.openxmlformats.org/officeDocument/2006/relationships/notesMaster" Target="/ppt/notesMasters/notesMaster1.xml" Id="Re86f6e73590a44e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fde4748322e4eee" /><Relationship Type="http://schemas.openxmlformats.org/officeDocument/2006/relationships/notesMaster" Target="/ppt/notesMasters/notesMaster1.xml" Id="Rb919dd21037741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43732b5de440df" /><Relationship Type="http://schemas.openxmlformats.org/officeDocument/2006/relationships/notesMaster" Target="/ppt/notesMasters/notesMaster1.xml" Id="R0928b2b3b36c441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bc75ddf0742456d" /><Relationship Type="http://schemas.openxmlformats.org/officeDocument/2006/relationships/notesMaster" Target="/ppt/notesMasters/notesMaster1.xml" Id="Rb7746d5d267b4c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6a74d924624b1d" /><Relationship Type="http://schemas.openxmlformats.org/officeDocument/2006/relationships/notesMaster" Target="/ppt/notesMasters/notesMaster1.xml" Id="R08459aeece8d4f0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abcf20e335b44f4" /><Relationship Type="http://schemas.openxmlformats.org/officeDocument/2006/relationships/notesMaster" Target="/ppt/notesMasters/notesMaster1.xml" Id="R1059bd70894f4500" /></Relationships>
</file>

<file path=ppt/notesSlides/_rels/notesSlide9.xml.rels>&#65279;<?xml version="1.0" encoding="utf-8"?><Relationships xmlns="http://schemas.openxmlformats.org/package/2006/relationships"><Relationship Type="http://schemas.openxmlformats.org/officeDocument/2006/relationships/slide" Target="/ppt/slides/slide9.xml" Id="R00ba923adba74c5c" /><Relationship Type="http://schemas.openxmlformats.org/officeDocument/2006/relationships/notesMaster" Target="/ppt/notesMasters/notesMaster1.xml" Id="R21cb7dfbab814cd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06711f8606a40b3" /><Relationship Type="http://schemas.openxmlformats.org/officeDocument/2006/relationships/notesMaster" Target="/ppt/notesMasters/notesMaster1.xml" Id="R226d959de09248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Bom dia. Nosso tema é o Fedora Linux, uma distribuição comunitária que combina software livre com tecnologias recentes. Nesta apresentação eu vou explicar de onde o Fedora veio, como ele se organiza, quais ferramentas oferece e em quais situações ele faz sentido. Também vou apontar vantagens e limitações, porque escolher um sistema operacional depende do perfil de uso. No final, mostro uma gravação feita neste computador com o Fedora Workstation 44 rodando em uma máquina virtual do VirtualBox. A ideia é observar o sistema sem instalar nada no Windows principal. A apresentação foi planejada para aproximadamente doze minutos, deixando um pequeno espaço para perguntas.</a:t>
            </a:r>
          </a:p>
          <a:p xmlns:a="http://schemas.openxmlformats.org/drawingml/2006/main">
            <a:r>
              <a:t/>
            </a:r>
          </a:p>
          <a:p xmlns:a="http://schemas.openxmlformats.org/drawingml/2006/main">
            <a:r>
              <a:t>Fontes:</a:t>
            </a:r>
          </a:p>
          <a:p xmlns:a="http://schemas.openxmlformats.org/drawingml/2006/main">
            <a:r>
              <a:t>https://www.fedoraproject.org/workstation/</a:t>
            </a:r>
          </a:p>
          <a:p xmlns:a="http://schemas.openxmlformats.org/drawingml/2006/main">
            <a:r>
              <a:t>Captura própria da VM Fedora 44 no VirtualBox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Fedora é uma distribuição do sistema operacional GNU/Linux. Em termos simples, uma distribuição reúne o kernel Linux, ferramentas do sistema, ambiente gráfico, instalador, gerenciador de pacotes e milhares de programas compatíveis. O projeto se apresenta como uma comunidade que constrói uma plataforma livre e de código aberto. A Red Hat participa como patrocinadora principal, oferecendo recursos como infraestrutura, funcionários, hardware e apoio jurídico. Isso não transforma o Fedora em um produto comercial da Red Hat. O Fedora mantém governança comunitária e um ciclo próprio. Ao mesmo tempo, muitas tecnologias amadurecem no Fedora antes de chegarem a ambientes corporativos. Por isso ele costuma ser associado a inovação, participação da comunidade e proximidade com os projetos originais de software livre.</a:t>
            </a:r>
          </a:p>
          <a:p xmlns:a="http://schemas.openxmlformats.org/drawingml/2006/main">
            <a:r>
              <a:t/>
            </a:r>
          </a:p>
          <a:p xmlns:a="http://schemas.openxmlformats.org/drawingml/2006/main">
            <a:r>
              <a:t>Fontes:</a:t>
            </a:r>
          </a:p>
          <a:p xmlns:a="http://schemas.openxmlformats.org/drawingml/2006/main">
            <a:r>
              <a:t>https://www.fedoraproject.org/workstation/</a:t>
            </a:r>
          </a:p>
          <a:p xmlns:a="http://schemas.openxmlformats.org/drawingml/2006/main">
            <a:r>
              <a:t>https://fedoraproject.org/en/sponsors/</a:t>
            </a:r>
          </a:p>
          <a:p xmlns:a="http://schemas.openxmlformats.org/drawingml/2006/main">
            <a:r>
              <a:t>https://fedoraproject.org/wiki/FAQ</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história moderna do Fedora começa em 2003. O Fedora Core 1 nasceu durante a transformação do antigo Red Hat Linux em um projeto com desenvolvimento aberto e participação comunitária. Nos primeiros anos existiam dois conjuntos de pacotes: o Core, mantido principalmente por profissionais da Red Hat, e o Extras, aberto a voluntários. Antes do Fedora 7, esses repositórios foram unidos e o termo Core deixou de fazer parte do nome. Desde então, o projeto mantém lançamentos frequentes, geralmente próximos de um intervalo de seis meses. Em abril de 2026 chegou o Fedora 44. Essa evolução mostra uma característica importante: o Fedora prefere adotar tecnologias recentes e colaborar diretamente com os projetos originais. A consequência é uma plataforma moderna, mas com necessidade de acompanhar versões e atualizações com mais frequência do que em distribuições de suporte prolongado.</a:t>
            </a:r>
          </a:p>
          <a:p xmlns:a="http://schemas.openxmlformats.org/drawingml/2006/main">
            <a:r>
              <a:t/>
            </a:r>
          </a:p>
          <a:p xmlns:a="http://schemas.openxmlformats.org/drawingml/2006/main">
            <a:r>
              <a:t>Fontes:</a:t>
            </a:r>
          </a:p>
          <a:p xmlns:a="http://schemas.openxmlformats.org/drawingml/2006/main">
            <a:r>
              <a:t>https://fedoraproject.org/wiki/Releases/HistoricalSchedules</a:t>
            </a:r>
          </a:p>
          <a:p xmlns:a="http://schemas.openxmlformats.org/drawingml/2006/main">
            <a:r>
              <a:t>https://fedoraproject.org/wiki/Core</a:t>
            </a:r>
          </a:p>
          <a:p xmlns:a="http://schemas.openxmlformats.org/drawingml/2006/main">
            <a:r>
              <a:t>https://www.fedoraproject.org/workstation/download/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Fedora não é uma única imagem para todos os cenários. A edição Workstation é a escolha mais comum em notebooks e computadores pessoais. Ela usa o GNOME e prioriza uma experiência organizada para produtividade e desenvolvimento. O projeto também oferece uma edição oficial com KDE Plasma, indicada para quem prefere uma interface mais tradicional e configurável. No lado de infraestrutura, Fedora Server reúne recursos para serviços de rede e administração. Fedora Cloud fornece imagens menores e prontas para ambientes de nuvem. Fedora CoreOS é voltado à execução automática e atualizável de cargas com contêineres. Fedora IoT atende dispositivos conectados. Além dessas edições, há Spins com outras interfaces, como Xfce, Cinnamon e Sway, e Labs com conjuntos de programas para áreas como ciência, jogos, design e segurança.</a:t>
            </a:r>
          </a:p>
          <a:p xmlns:a="http://schemas.openxmlformats.org/drawingml/2006/main">
            <a:r>
              <a:t/>
            </a:r>
          </a:p>
          <a:p xmlns:a="http://schemas.openxmlformats.org/drawingml/2006/main">
            <a:r>
              <a:t>Fontes:</a:t>
            </a:r>
          </a:p>
          <a:p xmlns:a="http://schemas.openxmlformats.org/drawingml/2006/main">
            <a:r>
              <a:t>https://www.fedoraproject.org/workstation/download/</a:t>
            </a:r>
          </a:p>
          <a:p xmlns:a="http://schemas.openxmlformats.org/drawingml/2006/main">
            <a:r>
              <a:t>https://www.fedoraproject.org/server/</a:t>
            </a:r>
          </a:p>
          <a:p xmlns:a="http://schemas.openxmlformats.org/drawingml/2006/main">
            <a:r>
              <a:t>https://fedoraproject.org/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Por baixo da interface, Fedora combina vários componentes. O kernel Linux conversa com o hardware, administra memória, processos e dispositivos. O systemd inicia o sistema e controla serviços. O formato de pacote tradicional é o RPM. Na linha de comando, o DNF5 pesquisa, instala, remove e atualiza programas, resolvendo dependências. As edições tradicionais também oferecem aplicativos Flatpak, enquanto variantes atômicas usam rpm-ostree para atualizar o sistema como uma imagem. Na edição Workstation, o GNOME organiza a área de trabalho e o Wayland cuida da exibição gráfica. Na segurança, o SELinux aplica políticas de controle de acesso e o firewalld administra regras de rede. Essa integração ajuda o Fedora a oferecer tecnologias recentes sem abandonar mecanismos de verificação, repositórios assinados e ferramentas de administração conhecidas no ecossistema Linux.</a:t>
            </a:r>
          </a:p>
          <a:p xmlns:a="http://schemas.openxmlformats.org/drawingml/2006/main">
            <a:r>
              <a:t/>
            </a:r>
          </a:p>
          <a:p xmlns:a="http://schemas.openxmlformats.org/drawingml/2006/main">
            <a:r>
              <a:t>Fontes:</a:t>
            </a:r>
          </a:p>
          <a:p xmlns:a="http://schemas.openxmlformats.org/drawingml/2006/main">
            <a:r>
              <a:t>https://docs.fedoraproject.org/jp/fedora/f28/system-administrators-guide/package-management/intro-package-management/</a:t>
            </a:r>
          </a:p>
          <a:p xmlns:a="http://schemas.openxmlformats.org/drawingml/2006/main">
            <a:r>
              <a:t>https://www.fedoraproject.org/workstation/</a:t>
            </a:r>
          </a:p>
          <a:p xmlns:a="http://schemas.openxmlformats.org/drawingml/2006/main">
            <a:r>
              <a:t>Captura própria da VM Fedora 44 no VirtualBox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 Fedora atende tanto quem prefere interface gráfica quanto quem trabalha no terminal. O aplicativo Software permite descobrir e instalar programas. Ele pode combinar pacotes dos repositórios Fedora com aplicativos Flatpak, dependendo da configuração escolhida. No terminal, o DNF5 oferece controle rápido sobre instalação e atualização. Para virtualização, o GNOME Boxes simplifica a criação de máquinas virtuais. Para contêineres, o Podman permite executar imagens sem depender de um serviço central permanente. Desenvolvedores encontram compiladores, Python, Java, ferramentas de rede, editores e bibliotecas atualizadas. No uso cotidiano, o Workstation inclui utilitários, Firefox e integração com serviços online. Um ponto importante é que o Fedora prioriza software livre. Alguns programas, codecs de mídia e drivers proprietários podem exigir repositórios adicionais, o que precisa ser avaliado de acordo com a licença e a necessidade do usuário.</a:t>
            </a:r>
          </a:p>
          <a:p xmlns:a="http://schemas.openxmlformats.org/drawingml/2006/main">
            <a:r>
              <a:t/>
            </a:r>
          </a:p>
          <a:p xmlns:a="http://schemas.openxmlformats.org/drawingml/2006/main">
            <a:r>
              <a:t>Fontes:</a:t>
            </a:r>
          </a:p>
          <a:p xmlns:a="http://schemas.openxmlformats.org/drawingml/2006/main">
            <a:r>
              <a:t>https://www.fedoraproject.org/workstation/</a:t>
            </a:r>
          </a:p>
          <a:p xmlns:a="http://schemas.openxmlformats.org/drawingml/2006/main">
            <a:r>
              <a:t>https://docs.fedoraproject.org/zh_Hans/quick-docs/finding-and-installing-linux-applications/</a:t>
            </a:r>
          </a:p>
          <a:p xmlns:a="http://schemas.openxmlformats.org/drawingml/2006/main">
            <a:r>
              <a:t>https://docs.fedoraproject.org/ko/quick-docs/installing-chromium-or-google-chrome-browsers/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 casos de uso ajudam a entender para quem o Fedora é indicado. Em desenvolvimento de software, ele oferece versões recentes de linguagens, compiladores, bibliotecas e ferramentas de contêineres. Isso aproxima o computador do ambiente usado em servidores Linux e plataformas de nuvem. Em escolas e laboratórios, uma máquina virtual permite praticar comandos, redes, permissões e instalação de pacotes sem alterar o sistema principal. Fedora Server pode hospedar serviços internos, ambientes de teste e aplicações. Fedora Cloud e CoreOS atendem cenários automatizados e contêinerizados. No desktop, o Workstation funciona bem para navegação, documentos, comunicação e programação. O melhor resultado aparece quando o usuário valoriza software livre, atualizações frequentes e contato com tecnologias novas. Quem depende de aplicações exclusivas do Windows ou de suporte empresarial de muitos anos precisa analisar alternativas ou manter uma solução de virtualização.</a:t>
            </a:r>
          </a:p>
          <a:p xmlns:a="http://schemas.openxmlformats.org/drawingml/2006/main">
            <a:r>
              <a:t/>
            </a:r>
          </a:p>
          <a:p xmlns:a="http://schemas.openxmlformats.org/drawingml/2006/main">
            <a:r>
              <a:t>Fontes:</a:t>
            </a:r>
          </a:p>
          <a:p xmlns:a="http://schemas.openxmlformats.org/drawingml/2006/main">
            <a:r>
              <a:t>https://www.fedoraproject.org/workstation/</a:t>
            </a:r>
          </a:p>
          <a:p xmlns:a="http://schemas.openxmlformats.org/drawingml/2006/main">
            <a:r>
              <a:t>https://www.fedoraproject.org/server/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Entre as vantagens, Fedora é gratuito, livre e não utiliza anúncios no desktop. A edição Workstation recebe tecnologias recentes e mantém integração consistente entre GNOME, Wayland, DNF e os mecanismos de segurança. A comunidade produz documentação, fóruns e vários formatos para usos diferentes. Para estudantes e desenvolvedores, a atualização rápida pode ser uma vantagem porque facilita conhecer ferramentas atuais. As limitações aparecem no mesmo modelo. Cada versão recebe atualizações por aproximadamente treze meses, então o usuário precisa atualizar a distribuição regularmente. Alguns drivers proprietários, codecs multimídia e aplicativos comerciais não vêm ativados por padrão. Programas exclusivos do Windows ou do macOS podem exigir alternativas, versão web ou uma máquina virtual. Em hardware muito novo ou muito específico, também convém verificar compatibilidade. Portanto, Fedora funciona melhor quando novidade e software livre pesam mais que suporte prolongado e compatibilidade proprietária imediata.</a:t>
            </a:r>
          </a:p>
          <a:p xmlns:a="http://schemas.openxmlformats.org/drawingml/2006/main">
            <a:r>
              <a:t/>
            </a:r>
          </a:p>
          <a:p xmlns:a="http://schemas.openxmlformats.org/drawingml/2006/main">
            <a:r>
              <a:t>Fontes:</a:t>
            </a:r>
          </a:p>
          <a:p xmlns:a="http://schemas.openxmlformats.org/drawingml/2006/main">
            <a:r>
              <a:t>https://www.fedoraproject.org/workstation/</a:t>
            </a:r>
          </a:p>
          <a:p xmlns:a="http://schemas.openxmlformats.org/drawingml/2006/main">
            <a:r>
              <a:t>https://docs.fedoraproject.org/zh_Hans/quick-docs/finding-and-installing-linux-applications/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Agora vem a parte prática. Eu criei uma máquina virtual chamada Fedora 44 Demo no VirtualBox 7.2. Ela recebeu quatro núcleos virtuais, quatro gigabytes de memória e vídeo em 1280 por 720 pixels. A rede utiliza NAT, que compartilha a conexão do computador sem colocar a máquina virtual diretamente na rede local. Em vez de instalar o sistema, usei a imagem Live oficial. Isso permite iniciar o Fedora temporariamente e explorar o ambiente sem gravar alterações em um disco virtual. No vídeo aparecem a inicialização, a tela de boas-vindas, a área de trabalho GNOME e a visão de Atividades. Depois, o terminal mostra Fedora release 44, o kernel 6.19.10 e a versão do DNF5. Por fim, as Configurações mostram a interface gráfica e a conexão de rede. Essa demonstração confirma que o sistema funciona isolado do Windows principal.</a:t>
            </a:r>
          </a:p>
          <a:p xmlns:a="http://schemas.openxmlformats.org/drawingml/2006/main">
            <a:r>
              <a:t/>
            </a:r>
          </a:p>
          <a:p xmlns:a="http://schemas.openxmlformats.org/drawingml/2006/main">
            <a:r>
              <a:t>Fontes:</a:t>
            </a:r>
          </a:p>
          <a:p xmlns:a="http://schemas.openxmlformats.org/drawingml/2006/main">
            <a:r>
              <a:t>https://www.fedoraproject.org/workstation/download/</a:t>
            </a:r>
          </a:p>
          <a:p xmlns:a="http://schemas.openxmlformats.org/drawingml/2006/main">
            <a:r>
              <a:t>Captura e gravação próprias da VM Fedora 44 no VirtualBox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 concluir, o Fedora combina uma comunidade de software livre, tecnologias atuais e várias edições para desktop, servidores, nuvem e contêineres. A edição Workstation oferece uma interface limpa e um conjunto forte de ferramentas para estudo e desenvolvimento. A máquina virtual mostrou que é possível experimentar o sistema com baixo risco, sem substituir o sistema instalado no computador. As principais vantagens são liberdade, atualidade, segurança integrada e boa relação com o ecossistema de desenvolvimento. As principais limitações são o ciclo de suporte mais curto, a necessidade de atualizações frequentes e possíveis etapas adicionais para software proprietário. Portanto, Fedora é especialmente indicado para quem quer aprender Linux, programar ou acompanhar tecnologias recentes. Obrigado pela atenção. Agora podemos responder perguntas ou repetir algum trecho da demonstração.</a:t>
            </a:r>
          </a:p>
          <a:p xmlns:a="http://schemas.openxmlformats.org/drawingml/2006/main">
            <a:r>
              <a:t/>
            </a:r>
          </a:p>
          <a:p xmlns:a="http://schemas.openxmlformats.org/drawingml/2006/main">
            <a:r>
              <a:t>Fontes:</a:t>
            </a:r>
          </a:p>
          <a:p xmlns:a="http://schemas.openxmlformats.org/drawingml/2006/main">
            <a:r>
              <a:t>https://www.fedoraproject.org/workstation/</a:t>
            </a:r>
          </a:p>
          <a:p xmlns:a="http://schemas.openxmlformats.org/drawingml/2006/main">
            <a:r>
              <a:t>https://fedoraproject.org/en/sponsors/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71ad8632a6b46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0841dcf71e0480d" /><Relationship Type="http://schemas.openxmlformats.org/officeDocument/2006/relationships/slideLayout" Target="/ppt/slideLayouts/slideLayout1.xml" Id="R842d3a41e4f2418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2d3a41e4f2418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66b4f38e0414df2" /><Relationship Type="http://schemas.openxmlformats.org/officeDocument/2006/relationships/image" Target="/ppt/media/image.png" Id="Rd1a660f7efd04c74" /><Relationship Type="http://schemas.openxmlformats.org/officeDocument/2006/relationships/image" Target="/ppt/media/image2.png" Id="R0b5c12a7757f4317" /><Relationship Type="http://schemas.openxmlformats.org/officeDocument/2006/relationships/notesSlide" Target="/ppt/notesSlides/notesSlide1.xml" Id="Rad5e541aaf3647ea"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81667070a54f02" /><Relationship Type="http://schemas.openxmlformats.org/officeDocument/2006/relationships/image" Target="/ppt/media/image3.png" Id="R0198d4ef0ec14ec0" /><Relationship Type="http://schemas.openxmlformats.org/officeDocument/2006/relationships/notesSlide" Target="/ppt/notesSlides/notesSlide2.xml" Id="Re2391044df8940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7573df5262467a" /><Relationship Type="http://schemas.openxmlformats.org/officeDocument/2006/relationships/notesSlide" Target="/ppt/notesSlides/notesSlide3.xml" Id="Rb3e08f7773f74af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e1c538872e147f1" /><Relationship Type="http://schemas.openxmlformats.org/officeDocument/2006/relationships/image" Target="/ppt/media/image4.png" Id="Rfda6208177984904" /><Relationship Type="http://schemas.openxmlformats.org/officeDocument/2006/relationships/notesSlide" Target="/ppt/notesSlides/notesSlide4.xml" Id="R90a253b1b52642d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e1f5201e1884b6c" /><Relationship Type="http://schemas.openxmlformats.org/officeDocument/2006/relationships/image" Target="/ppt/media/image5.png" Id="R5fe00b8f7e9947cc" /><Relationship Type="http://schemas.openxmlformats.org/officeDocument/2006/relationships/notesSlide" Target="/ppt/notesSlides/notesSlide5.xml" Id="Raeeec9ed027346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c0a94e8a83b4900" /><Relationship Type="http://schemas.openxmlformats.org/officeDocument/2006/relationships/image" Target="/ppt/media/image6.png" Id="R6568ce4476b145b8" /><Relationship Type="http://schemas.openxmlformats.org/officeDocument/2006/relationships/notesSlide" Target="/ppt/notesSlides/notesSlide6.xml" Id="Rbc266182878a481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2bc7e35e1df422f" /><Relationship Type="http://schemas.openxmlformats.org/officeDocument/2006/relationships/image" Target="/ppt/media/image7.png" Id="R9a2cb3f019b54347" /><Relationship Type="http://schemas.openxmlformats.org/officeDocument/2006/relationships/notesSlide" Target="/ppt/notesSlides/notesSlide7.xml" Id="Rce79ad60ea37488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47afb9c7e348fb" /><Relationship Type="http://schemas.openxmlformats.org/officeDocument/2006/relationships/notesSlide" Target="/ppt/notesSlides/notesSlide8.xml" Id="Rdd8b1c6b2e094b2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059648e8f5b4722" /><Relationship Type="http://schemas.openxmlformats.org/officeDocument/2006/relationships/image" Target="/ppt/media/image8.png" Id="Rf447a4d48ca348df" /><Relationship Type="http://schemas.openxmlformats.org/officeDocument/2006/relationships/notesSlide" Target="/ppt/notesSlides/notesSlide9.xml" Id="R085a1ca3a83e48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52424dca12545bb" /><Relationship Type="http://schemas.openxmlformats.org/officeDocument/2006/relationships/image" Target="/ppt/media/image9.png" Id="Rb0e989c5405d467c" /><Relationship Type="http://schemas.openxmlformats.org/officeDocument/2006/relationships/notesSlide" Target="/ppt/notesSlides/notesSlide10.xml" Id="R3d7e21dc0fde481d" /></Relationships>
</file>

<file path=ppt/slides/slide1.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1a660f7efd04c74"/>
          <a:stretch xmlns:a="http://schemas.openxmlformats.org/drawingml/2006/main"/>
        </p:blipFill>
        <p:spPr>
          <a:xfrm xmlns:a="http://schemas.openxmlformats.org/drawingml/2006/main">
            <a:off x="998621" y="590550"/>
            <a:ext cx="2517608" cy="6858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7581FD0-EB47-4892-8AC5-65E7D338863A}"/>
              </a:ext>
            </a:extLst>
          </p:cNvPr>
          <p:cNvSpPr>
            <a:spLocks xmlns:a="http://schemas.openxmlformats.org/drawingml/2006/main" noGrp="1"/>
          </p:cNvSpPr>
          <p:nvPr/>
        </p:nvSpPr>
        <p:spPr>
          <a:xfrm xmlns:a="http://schemas.openxmlformats.org/drawingml/2006/main">
            <a:off x="685800" y="1952625"/>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4500" b="1">
                <a:solidFill>
                  <a:srgbClr val="F7FAFC"/>
                </a:solidFill>
                <a:latin typeface="Aptos"/>
                <a:ea typeface="Aptos"/>
                <a:cs typeface="Aptos"/>
              </a:defRPr>
            </a:pPr>
            <a:r>
              <a:rPr sz="4500" b="1">
                <a:solidFill>
                  <a:srgbClr val="F7FAFC"/>
                </a:solidFill>
                <a:latin typeface="Aptos"/>
                <a:ea typeface="Aptos"/>
                <a:cs typeface="Aptos"/>
              </a:rPr>
              <a:t>Fedora Linux</a:t>
            </a:r>
          </a:p>
        </p:txBody>
      </p:sp>
      <p:sp>
        <p:nvSpPr>
          <p:cNvPr id="3" name="">
            <a:extLst xmlns:a="http://schemas.openxmlformats.org/drawingml/2006/main">
              <a:ext uri="{FF2B5EF4-FFF2-40B4-BE49-F238E27FC236}">
                <a16:creationId xmlns:a16="http://schemas.microsoft.com/office/drawing/2014/main" id="{B6B02AED-919D-47DB-8D7F-D9968B9DA4BC}"/>
              </a:ext>
            </a:extLst>
          </p:cNvPr>
          <p:cNvSpPr>
            <a:spLocks xmlns:a="http://schemas.openxmlformats.org/drawingml/2006/main" noGrp="1"/>
          </p:cNvSpPr>
          <p:nvPr/>
        </p:nvSpPr>
        <p:spPr>
          <a:xfrm xmlns:a="http://schemas.openxmlformats.org/drawingml/2006/main">
            <a:off x="723900" y="3009900"/>
            <a:ext cx="4857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950" b="0">
                <a:solidFill>
                  <a:srgbClr val="D7E8F7"/>
                </a:solidFill>
                <a:latin typeface="Aptos"/>
                <a:ea typeface="Aptos"/>
                <a:cs typeface="Aptos"/>
              </a:defRPr>
            </a:pPr>
            <a:r>
              <a:rPr sz="1950" b="0">
                <a:solidFill>
                  <a:srgbClr val="D7E8F7"/>
                </a:solidFill>
                <a:latin typeface="Aptos"/>
                <a:ea typeface="Aptos"/>
                <a:cs typeface="Aptos"/>
              </a:rPr>
              <a:t>História, recursos, aplicações e uma demonstração virtualizada</a:t>
            </a:r>
          </a:p>
        </p:txBody>
      </p:sp>
      <p:sp>
        <p:nvSpPr>
          <p:cNvPr id="4" name="">
            <a:extLst xmlns:a="http://schemas.openxmlformats.org/drawingml/2006/main">
              <a:ext uri="{FF2B5EF4-FFF2-40B4-BE49-F238E27FC236}">
                <a16:creationId xmlns:a16="http://schemas.microsoft.com/office/drawing/2014/main" id="{9D397677-A1A8-45D3-91C9-725F3CB4D79F}"/>
              </a:ext>
            </a:extLst>
          </p:cNvPr>
          <p:cNvSpPr>
            <a:spLocks xmlns:a="http://schemas.openxmlformats.org/drawingml/2006/main" noGrp="1"/>
          </p:cNvSpPr>
          <p:nvPr/>
        </p:nvSpPr>
        <p:spPr>
          <a:xfrm xmlns:a="http://schemas.openxmlformats.org/drawingml/2006/main">
            <a:off x="723900" y="5429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350" b="0">
                <a:solidFill>
                  <a:srgbClr val="AAB7C4"/>
                </a:solidFill>
                <a:latin typeface="Aptos"/>
                <a:ea typeface="Aptos"/>
                <a:cs typeface="Aptos"/>
              </a:defRPr>
            </a:pPr>
            <a:r>
              <a:rPr sz="1350" b="0">
                <a:solidFill>
                  <a:srgbClr val="AAB7C4"/>
                </a:solidFill>
                <a:latin typeface="Aptos"/>
                <a:ea typeface="Aptos"/>
                <a:cs typeface="Aptos"/>
              </a:rPr>
              <a:t>Fedora Workstation 44 no VirtualBox 7.2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0b5c12a7757f4317"/>
          <a:srcRect xmlns:a="http://schemas.openxmlformats.org/drawingml/2006/main" l="18166" t="0" r="18166" b="0"/>
          <a:stretch xmlns:a="http://schemas.openxmlformats.org/drawingml/2006/main">
            <a:fillRect l="0" t="0" r="0" b="0"/>
          </a:stretch>
        </p:blipFill>
        <p:spPr>
          <a:xfrm xmlns:a="http://schemas.openxmlformats.org/drawingml/2006/main">
            <a:off x="6334125" y="876300"/>
            <a:ext cx="5191125" cy="5095875"/>
          </a:xfrm>
          <a:prstGeom xmlns:a="http://schemas.openxmlformats.org/drawingml/2006/main" prst="roundRect">
            <a:avLst>
              <a:gd name="adj" fmla="val 2991"/>
            </a:avLst>
          </a:prstGeom>
        </p:spPr>
      </p:pic>
    </p:spTree>
    <p:extLst>
      <p:ext uri="{BB962C8B-B14F-4D97-AF65-F5344CB8AC3E}">
        <p14:creationId xmlns:p14="http://schemas.microsoft.com/office/powerpoint/2010/main" val="987295734"/>
      </p:ext>
    </p:extLst>
  </p:cSld>
</p:sld>
</file>

<file path=ppt/slides/slide2.xml><?xml version="1.0" encoding="utf-8"?>
<p:sld xmlns:p="http://schemas.openxmlformats.org/presentationml/2006/main">
  <p:cSld>
    <p:bg>
      <p:bgPr>
        <a:solidFill xmlns:a="http://schemas.openxmlformats.org/drawingml/2006/main">
          <a:srgbClr val="121A2E"/>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886B8E3-05F2-4F53-B2D3-EE2320FADD7D}"/>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VISÃO GERAL</a:t>
            </a:r>
          </a:p>
        </p:txBody>
      </p:sp>
      <p:sp>
        <p:nvSpPr>
          <p:cNvPr id="2" name="">
            <a:extLst xmlns:a="http://schemas.openxmlformats.org/drawingml/2006/main">
              <a:ext uri="{FF2B5EF4-FFF2-40B4-BE49-F238E27FC236}">
                <a16:creationId xmlns:a16="http://schemas.microsoft.com/office/drawing/2014/main" id="{2FBAA256-7470-4155-AFD3-D75FA0FFF98F}"/>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O que é o Fedora</a:t>
            </a:r>
          </a:p>
        </p:txBody>
      </p:sp>
      <p:sp>
        <p:nvSpPr>
          <p:cNvPr id="3" name="">
            <a:extLst xmlns:a="http://schemas.openxmlformats.org/drawingml/2006/main">
              <a:ext uri="{FF2B5EF4-FFF2-40B4-BE49-F238E27FC236}">
                <a16:creationId xmlns:a16="http://schemas.microsoft.com/office/drawing/2014/main" id="{FC343F4C-3EBD-4938-9616-88B5FF5B68AF}"/>
              </a:ext>
            </a:extLst>
          </p:cNvPr>
          <p:cNvSpPr>
            <a:spLocks xmlns:a="http://schemas.openxmlformats.org/drawingml/2006/main" noGrp="1"/>
          </p:cNvSpPr>
          <p:nvPr/>
        </p:nvSpPr>
        <p:spPr>
          <a:xfrm xmlns:a="http://schemas.openxmlformats.org/drawingml/2006/main">
            <a:off x="685800" y="1676400"/>
            <a:ext cx="4762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575"/>
          </a:bodyPr>
          <a:lstStyle xmlns:a="http://schemas.openxmlformats.org/drawingml/2006/main"/>
          <a:p xmlns:a="http://schemas.openxmlformats.org/drawingml/2006/main">
            <a:pPr algn="l">
              <a:lnSpc>
                <a:spcPct val="105000"/>
              </a:lnSpc>
              <a:buNone/>
              <a:defRPr sz="2250" b="1">
                <a:solidFill>
                  <a:srgbClr val="51A2DA"/>
                </a:solidFill>
                <a:latin typeface="Aptos"/>
                <a:ea typeface="Aptos"/>
                <a:cs typeface="Aptos"/>
              </a:defRPr>
            </a:pPr>
            <a:r>
              <a:rPr sz="2250" b="1">
                <a:solidFill>
                  <a:srgbClr val="51A2DA"/>
                </a:solidFill>
                <a:latin typeface="Aptos"/>
                <a:ea typeface="Aptos"/>
                <a:cs typeface="Aptos"/>
              </a:rPr>
              <a:t>Uma distribuição Linux livre e comunitária</a:t>
            </a:r>
          </a:p>
        </p:txBody>
      </p:sp>
      <p:sp>
        <p:nvSpPr>
          <p:cNvPr id="4" name="">
            <a:extLst xmlns:a="http://schemas.openxmlformats.org/drawingml/2006/main">
              <a:ext uri="{FF2B5EF4-FFF2-40B4-BE49-F238E27FC236}">
                <a16:creationId xmlns:a16="http://schemas.microsoft.com/office/drawing/2014/main" id="{F44C6B99-80B3-4BBF-9D7E-8433A2A5FFE2}"/>
              </a:ext>
            </a:extLst>
          </p:cNvPr>
          <p:cNvSpPr>
            <a:spLocks xmlns:a="http://schemas.openxmlformats.org/drawingml/2006/main" noGrp="1"/>
          </p:cNvSpPr>
          <p:nvPr/>
        </p:nvSpPr>
        <p:spPr>
          <a:xfrm xmlns:a="http://schemas.openxmlformats.org/drawingml/2006/main">
            <a:off x="685800" y="2514600"/>
            <a:ext cx="47625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5000"/>
              </a:lnSpc>
              <a:buNone/>
              <a:defRPr sz="1800" b="0">
                <a:solidFill>
                  <a:srgbClr val="D7E8F7"/>
                </a:solidFill>
                <a:latin typeface="Aptos"/>
                <a:ea typeface="Aptos"/>
                <a:cs typeface="Aptos"/>
              </a:defRPr>
            </a:pPr>
            <a:r>
              <a:rPr sz="1800" b="0">
                <a:solidFill>
                  <a:srgbClr val="D7E8F7"/>
                </a:solidFill>
                <a:latin typeface="Aptos"/>
                <a:ea typeface="Aptos"/>
                <a:cs typeface="Aptos"/>
              </a:rPr>
              <a:t>O Projeto Fedora desenvolve uma plataforma de software livre para computadores pessoais, servidores, nuvem, contêineres e dispositivos conectados.</a:t>
            </a:r>
          </a:p>
        </p:txBody>
      </p:sp>
      <p:sp>
        <p:nvSpPr>
          <p:cNvPr id="5" name="">
            <a:extLst xmlns:a="http://schemas.openxmlformats.org/drawingml/2006/main">
              <a:ext uri="{FF2B5EF4-FFF2-40B4-BE49-F238E27FC236}">
                <a16:creationId xmlns:a16="http://schemas.microsoft.com/office/drawing/2014/main" id="{EFF17E1B-070F-41CB-8A6F-BD64FF8391B7}"/>
              </a:ext>
            </a:extLst>
          </p:cNvPr>
          <p:cNvSpPr>
            <a:spLocks xmlns:a="http://schemas.openxmlformats.org/drawingml/2006/main" noGrp="1"/>
          </p:cNvSpPr>
          <p:nvPr/>
        </p:nvSpPr>
        <p:spPr>
          <a:xfrm xmlns:a="http://schemas.openxmlformats.org/drawingml/2006/main">
            <a:off x="685800" y="4210050"/>
            <a:ext cx="4762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650" b="0">
                <a:solidFill>
                  <a:srgbClr val="F7FAFC"/>
                </a:solidFill>
                <a:latin typeface="Aptos"/>
                <a:ea typeface="Aptos"/>
                <a:cs typeface="Aptos"/>
              </a:defRPr>
            </a:pPr>
            <a:r>
              <a:rPr sz="1650" b="0">
                <a:solidFill>
                  <a:srgbClr val="F7FAFC"/>
                </a:solidFill>
                <a:latin typeface="Aptos"/>
                <a:ea typeface="Aptos"/>
                <a:cs typeface="Aptos"/>
              </a:rPr>
              <a:t>A comunidade conduz o projeto. A Red Hat é a principal patrocinadora e fornece infraestrutura, profissionais e apoio técnico.</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198d4ef0ec14ec0"/>
          <a:stretch xmlns:a="http://schemas.openxmlformats.org/drawingml/2006/main"/>
        </p:blipFill>
        <p:spPr>
          <a:xfrm xmlns:a="http://schemas.openxmlformats.org/drawingml/2006/main">
            <a:off x="6134100" y="1504950"/>
            <a:ext cx="5334000" cy="4267200"/>
          </a:xfrm>
          <a:prstGeom xmlns:a="http://schemas.openxmlformats.org/drawingml/2006/main" prst="roundRect">
            <a:avLst>
              <a:gd name="adj" fmla="val 3571"/>
            </a:avLst>
          </a:prstGeom>
        </p:spPr>
      </p:pic>
      <p:sp>
        <p:nvSpPr>
          <p:cNvPr id="7" name="">
            <a:extLst xmlns:a="http://schemas.openxmlformats.org/drawingml/2006/main">
              <a:ext uri="{FF2B5EF4-FFF2-40B4-BE49-F238E27FC236}">
                <a16:creationId xmlns:a16="http://schemas.microsoft.com/office/drawing/2014/main" id="{B9D9073E-DBFF-4A3E-8407-353D7D0F6EED}"/>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02</a:t>
            </a:r>
          </a:p>
        </p:txBody>
      </p:sp>
    </p:spTree>
    <p:extLst>
      <p:ext uri="{BB962C8B-B14F-4D97-AF65-F5344CB8AC3E}">
        <p14:creationId xmlns:p14="http://schemas.microsoft.com/office/powerpoint/2010/main" val="334803101"/>
      </p:ext>
    </p:extLst>
  </p:cSld>
</p:sld>
</file>

<file path=ppt/slides/slide3.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6D7B890-244A-4B42-B226-9E6A885108C4}"/>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LINHA DO TEMPO</a:t>
            </a:r>
          </a:p>
        </p:txBody>
      </p:sp>
      <p:sp>
        <p:nvSpPr>
          <p:cNvPr id="2" name="">
            <a:extLst xmlns:a="http://schemas.openxmlformats.org/drawingml/2006/main">
              <a:ext uri="{FF2B5EF4-FFF2-40B4-BE49-F238E27FC236}">
                <a16:creationId xmlns:a16="http://schemas.microsoft.com/office/drawing/2014/main" id="{45F1CA65-13B5-4857-A2B9-86D1C1315A58}"/>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História e evolução</a:t>
            </a:r>
          </a:p>
        </p:txBody>
      </p:sp>
      <p:sp>
        <p:nvSpPr>
          <p:cNvPr id="3" name="">
            <a:extLst xmlns:a="http://schemas.openxmlformats.org/drawingml/2006/main">
              <a:ext uri="{FF2B5EF4-FFF2-40B4-BE49-F238E27FC236}">
                <a16:creationId xmlns:a16="http://schemas.microsoft.com/office/drawing/2014/main" id="{D9F7B9C1-8205-432B-A69A-A763D6147FD7}"/>
              </a:ext>
            </a:extLst>
          </p:cNvPr>
          <p:cNvSpPr>
            <a:spLocks xmlns:a="http://schemas.openxmlformats.org/drawingml/2006/main" noGrp="1"/>
          </p:cNvSpPr>
          <p:nvPr/>
        </p:nvSpPr>
        <p:spPr>
          <a:xfrm xmlns:a="http://schemas.openxmlformats.org/drawingml/2006/main">
            <a:off x="685800" y="18097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4650" b="1">
                <a:solidFill>
                  <a:srgbClr val="51A2DA"/>
                </a:solidFill>
                <a:latin typeface="Aptos"/>
                <a:ea typeface="Aptos"/>
                <a:cs typeface="Aptos"/>
              </a:defRPr>
            </a:pPr>
            <a:r>
              <a:rPr sz="4650" b="1">
                <a:solidFill>
                  <a:srgbClr val="51A2DA"/>
                </a:solidFill>
                <a:latin typeface="Aptos"/>
                <a:ea typeface="Aptos"/>
                <a:cs typeface="Aptos"/>
              </a:rPr>
              <a:t>2003</a:t>
            </a:r>
          </a:p>
        </p:txBody>
      </p:sp>
      <p:sp>
        <p:nvSpPr>
          <p:cNvPr id="4" name="">
            <a:extLst xmlns:a="http://schemas.openxmlformats.org/drawingml/2006/main">
              <a:ext uri="{FF2B5EF4-FFF2-40B4-BE49-F238E27FC236}">
                <a16:creationId xmlns:a16="http://schemas.microsoft.com/office/drawing/2014/main" id="{9902E79E-91DA-4F4C-AD84-A09D1538D48D}"/>
              </a:ext>
            </a:extLst>
          </p:cNvPr>
          <p:cNvSpPr>
            <a:spLocks xmlns:a="http://schemas.openxmlformats.org/drawingml/2006/main" noGrp="1"/>
          </p:cNvSpPr>
          <p:nvPr/>
        </p:nvSpPr>
        <p:spPr>
          <a:xfrm xmlns:a="http://schemas.openxmlformats.org/drawingml/2006/main">
            <a:off x="685800" y="2876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800" b="1">
                <a:solidFill>
                  <a:srgbClr val="F7FAFC"/>
                </a:solidFill>
                <a:latin typeface="Aptos"/>
                <a:ea typeface="Aptos"/>
                <a:cs typeface="Aptos"/>
              </a:defRPr>
            </a:pPr>
            <a:r>
              <a:rPr sz="1800" b="1">
                <a:solidFill>
                  <a:srgbClr val="F7FAFC"/>
                </a:solidFill>
                <a:latin typeface="Aptos"/>
                <a:ea typeface="Aptos"/>
                <a:cs typeface="Aptos"/>
              </a:rPr>
              <a:t>Fedora Core 1</a:t>
            </a:r>
          </a:p>
        </p:txBody>
      </p:sp>
      <p:sp>
        <p:nvSpPr>
          <p:cNvPr id="5" name="">
            <a:extLst xmlns:a="http://schemas.openxmlformats.org/drawingml/2006/main">
              <a:ext uri="{FF2B5EF4-FFF2-40B4-BE49-F238E27FC236}">
                <a16:creationId xmlns:a16="http://schemas.microsoft.com/office/drawing/2014/main" id="{DFB60536-F828-4F46-9FA9-83AE4490D3D3}"/>
              </a:ext>
            </a:extLst>
          </p:cNvPr>
          <p:cNvSpPr>
            <a:spLocks xmlns:a="http://schemas.openxmlformats.org/drawingml/2006/main" noGrp="1"/>
          </p:cNvSpPr>
          <p:nvPr/>
        </p:nvSpPr>
        <p:spPr>
          <a:xfrm xmlns:a="http://schemas.openxmlformats.org/drawingml/2006/main">
            <a:off x="685800" y="3486150"/>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575" b="0">
                <a:solidFill>
                  <a:srgbClr val="D7E8F7"/>
                </a:solidFill>
                <a:latin typeface="Aptos"/>
                <a:ea typeface="Aptos"/>
                <a:cs typeface="Aptos"/>
              </a:defRPr>
            </a:pPr>
            <a:r>
              <a:rPr sz="1575" b="0">
                <a:solidFill>
                  <a:srgbClr val="D7E8F7"/>
                </a:solidFill>
                <a:latin typeface="Aptos"/>
                <a:ea typeface="Aptos"/>
                <a:cs typeface="Aptos"/>
              </a:rPr>
              <a:t>A primeira versão surgiu a partir da transição do antigo Red Hat Linux para um projeto comunitário.</a:t>
            </a:r>
          </a:p>
        </p:txBody>
      </p:sp>
      <p:sp>
        <p:nvSpPr>
          <p:cNvPr id="6" name="">
            <a:extLst xmlns:a="http://schemas.openxmlformats.org/drawingml/2006/main">
              <a:ext uri="{FF2B5EF4-FFF2-40B4-BE49-F238E27FC236}">
                <a16:creationId xmlns:a16="http://schemas.microsoft.com/office/drawing/2014/main" id="{9D4D30A8-4C2A-4957-B559-914696EDDE13}"/>
              </a:ext>
            </a:extLst>
          </p:cNvPr>
          <p:cNvSpPr>
            <a:spLocks xmlns:a="http://schemas.openxmlformats.org/drawingml/2006/main" noGrp="1"/>
          </p:cNvSpPr>
          <p:nvPr/>
        </p:nvSpPr>
        <p:spPr>
          <a:xfrm xmlns:a="http://schemas.openxmlformats.org/drawingml/2006/main">
            <a:off x="4381500" y="18097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4650" b="1">
                <a:solidFill>
                  <a:srgbClr val="51A2DA"/>
                </a:solidFill>
                <a:latin typeface="Aptos"/>
                <a:ea typeface="Aptos"/>
                <a:cs typeface="Aptos"/>
              </a:defRPr>
            </a:pPr>
            <a:r>
              <a:rPr sz="4650" b="1">
                <a:solidFill>
                  <a:srgbClr val="51A2DA"/>
                </a:solidFill>
                <a:latin typeface="Aptos"/>
                <a:ea typeface="Aptos"/>
                <a:cs typeface="Aptos"/>
              </a:rPr>
              <a:t>2007</a:t>
            </a:r>
          </a:p>
        </p:txBody>
      </p:sp>
      <p:sp>
        <p:nvSpPr>
          <p:cNvPr id="7" name="">
            <a:extLst xmlns:a="http://schemas.openxmlformats.org/drawingml/2006/main">
              <a:ext uri="{FF2B5EF4-FFF2-40B4-BE49-F238E27FC236}">
                <a16:creationId xmlns:a16="http://schemas.microsoft.com/office/drawing/2014/main" id="{F81E3006-6640-4688-8A84-C3675E7DB6E0}"/>
              </a:ext>
            </a:extLst>
          </p:cNvPr>
          <p:cNvSpPr>
            <a:spLocks xmlns:a="http://schemas.openxmlformats.org/drawingml/2006/main" noGrp="1"/>
          </p:cNvSpPr>
          <p:nvPr/>
        </p:nvSpPr>
        <p:spPr>
          <a:xfrm xmlns:a="http://schemas.openxmlformats.org/drawingml/2006/main">
            <a:off x="4381500" y="2876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800" b="1">
                <a:solidFill>
                  <a:srgbClr val="F7FAFC"/>
                </a:solidFill>
                <a:latin typeface="Aptos"/>
                <a:ea typeface="Aptos"/>
                <a:cs typeface="Aptos"/>
              </a:defRPr>
            </a:pPr>
            <a:r>
              <a:rPr sz="1800" b="1">
                <a:solidFill>
                  <a:srgbClr val="F7FAFC"/>
                </a:solidFill>
                <a:latin typeface="Aptos"/>
                <a:ea typeface="Aptos"/>
                <a:cs typeface="Aptos"/>
              </a:rPr>
              <a:t>Fedora 7</a:t>
            </a:r>
          </a:p>
        </p:txBody>
      </p:sp>
      <p:sp>
        <p:nvSpPr>
          <p:cNvPr id="8" name="">
            <a:extLst xmlns:a="http://schemas.openxmlformats.org/drawingml/2006/main">
              <a:ext uri="{FF2B5EF4-FFF2-40B4-BE49-F238E27FC236}">
                <a16:creationId xmlns:a16="http://schemas.microsoft.com/office/drawing/2014/main" id="{6F3936D3-ED46-42A8-BED9-A1892EBF3934}"/>
              </a:ext>
            </a:extLst>
          </p:cNvPr>
          <p:cNvSpPr>
            <a:spLocks xmlns:a="http://schemas.openxmlformats.org/drawingml/2006/main" noGrp="1"/>
          </p:cNvSpPr>
          <p:nvPr/>
        </p:nvSpPr>
        <p:spPr>
          <a:xfrm xmlns:a="http://schemas.openxmlformats.org/drawingml/2006/main">
            <a:off x="4381500" y="3486150"/>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575" b="0">
                <a:solidFill>
                  <a:srgbClr val="D7E8F7"/>
                </a:solidFill>
                <a:latin typeface="Aptos"/>
                <a:ea typeface="Aptos"/>
                <a:cs typeface="Aptos"/>
              </a:defRPr>
            </a:pPr>
            <a:r>
              <a:rPr sz="1575" b="0">
                <a:solidFill>
                  <a:srgbClr val="D7E8F7"/>
                </a:solidFill>
                <a:latin typeface="Aptos"/>
                <a:ea typeface="Aptos"/>
                <a:cs typeface="Aptos"/>
              </a:rPr>
              <a:t>Os repositórios Core e Extras foram unidos. O nome passou a ser apenas Fedora.</a:t>
            </a:r>
          </a:p>
        </p:txBody>
      </p:sp>
      <p:sp>
        <p:nvSpPr>
          <p:cNvPr id="9" name="">
            <a:extLst xmlns:a="http://schemas.openxmlformats.org/drawingml/2006/main">
              <a:ext uri="{FF2B5EF4-FFF2-40B4-BE49-F238E27FC236}">
                <a16:creationId xmlns:a16="http://schemas.microsoft.com/office/drawing/2014/main" id="{C767677D-1A61-48B4-9C56-005A9ABABB13}"/>
              </a:ext>
            </a:extLst>
          </p:cNvPr>
          <p:cNvSpPr>
            <a:spLocks xmlns:a="http://schemas.openxmlformats.org/drawingml/2006/main" noGrp="1"/>
          </p:cNvSpPr>
          <p:nvPr/>
        </p:nvSpPr>
        <p:spPr>
          <a:xfrm xmlns:a="http://schemas.openxmlformats.org/drawingml/2006/main">
            <a:off x="8077200" y="1809750"/>
            <a:ext cx="295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4650" b="1">
                <a:solidFill>
                  <a:srgbClr val="51A2DA"/>
                </a:solidFill>
                <a:latin typeface="Aptos"/>
                <a:ea typeface="Aptos"/>
                <a:cs typeface="Aptos"/>
              </a:defRPr>
            </a:pPr>
            <a:r>
              <a:rPr sz="4650" b="1">
                <a:solidFill>
                  <a:srgbClr val="51A2DA"/>
                </a:solidFill>
                <a:latin typeface="Aptos"/>
                <a:ea typeface="Aptos"/>
                <a:cs typeface="Aptos"/>
              </a:rPr>
              <a:t>2026</a:t>
            </a:r>
          </a:p>
        </p:txBody>
      </p:sp>
      <p:sp>
        <p:nvSpPr>
          <p:cNvPr id="10" name="">
            <a:extLst xmlns:a="http://schemas.openxmlformats.org/drawingml/2006/main">
              <a:ext uri="{FF2B5EF4-FFF2-40B4-BE49-F238E27FC236}">
                <a16:creationId xmlns:a16="http://schemas.microsoft.com/office/drawing/2014/main" id="{FB4E9429-5F2B-4BE5-A295-1EF1508EB52D}"/>
              </a:ext>
            </a:extLst>
          </p:cNvPr>
          <p:cNvSpPr>
            <a:spLocks xmlns:a="http://schemas.openxmlformats.org/drawingml/2006/main" noGrp="1"/>
          </p:cNvSpPr>
          <p:nvPr/>
        </p:nvSpPr>
        <p:spPr>
          <a:xfrm xmlns:a="http://schemas.openxmlformats.org/drawingml/2006/main">
            <a:off x="8077200" y="2876550"/>
            <a:ext cx="2952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800" b="1">
                <a:solidFill>
                  <a:srgbClr val="F7FAFC"/>
                </a:solidFill>
                <a:latin typeface="Aptos"/>
                <a:ea typeface="Aptos"/>
                <a:cs typeface="Aptos"/>
              </a:defRPr>
            </a:pPr>
            <a:r>
              <a:rPr sz="1800" b="1">
                <a:solidFill>
                  <a:srgbClr val="F7FAFC"/>
                </a:solidFill>
                <a:latin typeface="Aptos"/>
                <a:ea typeface="Aptos"/>
                <a:cs typeface="Aptos"/>
              </a:rPr>
              <a:t>Fedora 44</a:t>
            </a:r>
          </a:p>
        </p:txBody>
      </p:sp>
      <p:sp>
        <p:nvSpPr>
          <p:cNvPr id="11" name="">
            <a:extLst xmlns:a="http://schemas.openxmlformats.org/drawingml/2006/main">
              <a:ext uri="{FF2B5EF4-FFF2-40B4-BE49-F238E27FC236}">
                <a16:creationId xmlns:a16="http://schemas.microsoft.com/office/drawing/2014/main" id="{241C82F0-8B5C-46ED-BB5E-854D68C4EE6B}"/>
              </a:ext>
            </a:extLst>
          </p:cNvPr>
          <p:cNvSpPr>
            <a:spLocks xmlns:a="http://schemas.openxmlformats.org/drawingml/2006/main" noGrp="1"/>
          </p:cNvSpPr>
          <p:nvPr/>
        </p:nvSpPr>
        <p:spPr>
          <a:xfrm xmlns:a="http://schemas.openxmlformats.org/drawingml/2006/main">
            <a:off x="8077200" y="3486150"/>
            <a:ext cx="295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2000"/>
              </a:lnSpc>
              <a:buNone/>
              <a:defRPr sz="1575" b="0">
                <a:solidFill>
                  <a:srgbClr val="D7E8F7"/>
                </a:solidFill>
                <a:latin typeface="Aptos"/>
                <a:ea typeface="Aptos"/>
                <a:cs typeface="Aptos"/>
              </a:defRPr>
            </a:pPr>
            <a:r>
              <a:rPr sz="1575" b="0">
                <a:solidFill>
                  <a:srgbClr val="D7E8F7"/>
                </a:solidFill>
                <a:latin typeface="Aptos"/>
                <a:ea typeface="Aptos"/>
                <a:cs typeface="Aptos"/>
              </a:rPr>
              <a:t>A edição atual mantém lançamentos frequentes e oferece Workstation, KDE, Server, Cloud, CoreOS e IoT.</a:t>
            </a:r>
          </a:p>
        </p:txBody>
      </p:sp>
      <p:sp>
        <p:nvSpPr>
          <p:cNvPr id="12" name="">
            <a:extLst xmlns:a="http://schemas.openxmlformats.org/drawingml/2006/main">
              <a:ext uri="{FF2B5EF4-FFF2-40B4-BE49-F238E27FC236}">
                <a16:creationId xmlns:a16="http://schemas.microsoft.com/office/drawing/2014/main" id="{E2A0C00F-4F87-4615-9802-E6DF00FEFFE1}"/>
              </a:ext>
            </a:extLst>
          </p:cNvPr>
          <p:cNvSpPr>
            <a:spLocks xmlns:a="http://schemas.openxmlformats.org/drawingml/2006/main" noGrp="1"/>
          </p:cNvSpPr>
          <p:nvPr/>
        </p:nvSpPr>
        <p:spPr>
          <a:xfrm xmlns:a="http://schemas.openxmlformats.org/drawingml/2006/main">
            <a:off x="685800" y="5619750"/>
            <a:ext cx="933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650" b="0">
                <a:solidFill>
                  <a:srgbClr val="AAB7C4"/>
                </a:solidFill>
                <a:latin typeface="Aptos"/>
                <a:ea typeface="Aptos"/>
                <a:cs typeface="Aptos"/>
              </a:defRPr>
            </a:pPr>
            <a:r>
              <a:rPr sz="1650" b="0">
                <a:solidFill>
                  <a:srgbClr val="AAB7C4"/>
                </a:solidFill>
                <a:latin typeface="Aptos"/>
                <a:ea typeface="Aptos"/>
                <a:cs typeface="Aptos"/>
              </a:rPr>
              <a:t>O ritmo rápido aproxima usuários de tecnologias novas, mas exige atualizações regulares.</a:t>
            </a:r>
          </a:p>
        </p:txBody>
      </p:sp>
      <p:sp>
        <p:nvSpPr>
          <p:cNvPr id="13" name="">
            <a:extLst xmlns:a="http://schemas.openxmlformats.org/drawingml/2006/main">
              <a:ext uri="{FF2B5EF4-FFF2-40B4-BE49-F238E27FC236}">
                <a16:creationId xmlns:a16="http://schemas.microsoft.com/office/drawing/2014/main" id="{22FE0EE0-475C-4552-A2D5-4DA35984219C}"/>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03</a:t>
            </a:r>
          </a:p>
        </p:txBody>
      </p:sp>
    </p:spTree>
    <p:extLst>
      <p:ext uri="{BB962C8B-B14F-4D97-AF65-F5344CB8AC3E}">
        <p14:creationId xmlns:p14="http://schemas.microsoft.com/office/powerpoint/2010/main" val="252566604"/>
      </p:ext>
    </p:extLst>
  </p:cSld>
</p:sld>
</file>

<file path=ppt/slides/slide4.xml><?xml version="1.0" encoding="utf-8"?>
<p:sld xmlns:p="http://schemas.openxmlformats.org/presentationml/2006/main">
  <p:cSld>
    <p:bg>
      <p:bgPr>
        <a:solidFill xmlns:a="http://schemas.openxmlformats.org/drawingml/2006/main">
          <a:srgbClr val="121A2E"/>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90246841-0A37-41B7-A0FB-E7EEC4DEC14D}"/>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ESCOLHA CONFORME O USO</a:t>
            </a:r>
          </a:p>
        </p:txBody>
      </p:sp>
      <p:sp>
        <p:nvSpPr>
          <p:cNvPr id="2" name="">
            <a:extLst xmlns:a="http://schemas.openxmlformats.org/drawingml/2006/main">
              <a:ext uri="{FF2B5EF4-FFF2-40B4-BE49-F238E27FC236}">
                <a16:creationId xmlns:a16="http://schemas.microsoft.com/office/drawing/2014/main" id="{9E068EF7-5859-4545-92F0-01EE89CA49E4}"/>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Edições e variantes</a:t>
            </a:r>
          </a:p>
        </p:txBody>
      </p:sp>
      <p:sp>
        <p:nvSpPr>
          <p:cNvPr id="3" name="">
            <a:extLst xmlns:a="http://schemas.openxmlformats.org/drawingml/2006/main">
              <a:ext uri="{FF2B5EF4-FFF2-40B4-BE49-F238E27FC236}">
                <a16:creationId xmlns:a16="http://schemas.microsoft.com/office/drawing/2014/main" id="{F962DBBC-4FD9-4E8C-8016-A7EADEA02E1A}"/>
              </a:ext>
            </a:extLst>
          </p:cNvPr>
          <p:cNvSpPr>
            <a:spLocks xmlns:a="http://schemas.openxmlformats.org/drawingml/2006/main" noGrp="1"/>
          </p:cNvSpPr>
          <p:nvPr/>
        </p:nvSpPr>
        <p:spPr>
          <a:xfrm xmlns:a="http://schemas.openxmlformats.org/drawingml/2006/main">
            <a:off x="685800" y="1714500"/>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200" b="1">
                <a:solidFill>
                  <a:srgbClr val="51A2DA"/>
                </a:solidFill>
                <a:latin typeface="Aptos"/>
                <a:ea typeface="Aptos"/>
                <a:cs typeface="Aptos"/>
              </a:defRPr>
            </a:pPr>
            <a:r>
              <a:rPr sz="1200" b="1">
                <a:solidFill>
                  <a:srgbClr val="51A2DA"/>
                </a:solidFill>
                <a:latin typeface="Aptos"/>
                <a:ea typeface="Aptos"/>
                <a:cs typeface="Aptos"/>
              </a:rPr>
              <a:t>DESKTOP</a:t>
            </a:r>
          </a:p>
        </p:txBody>
      </p:sp>
      <p:sp>
        <p:nvSpPr>
          <p:cNvPr id="4" name="">
            <a:extLst xmlns:a="http://schemas.openxmlformats.org/drawingml/2006/main">
              <a:ext uri="{FF2B5EF4-FFF2-40B4-BE49-F238E27FC236}">
                <a16:creationId xmlns:a16="http://schemas.microsoft.com/office/drawing/2014/main" id="{03745692-0AB0-4F2E-B1B2-CD3536EFFFC8}"/>
              </a:ext>
            </a:extLst>
          </p:cNvPr>
          <p:cNvSpPr>
            <a:spLocks xmlns:a="http://schemas.openxmlformats.org/drawingml/2006/main" noGrp="1"/>
          </p:cNvSpPr>
          <p:nvPr/>
        </p:nvSpPr>
        <p:spPr>
          <a:xfrm xmlns:a="http://schemas.openxmlformats.org/drawingml/2006/main">
            <a:off x="685800" y="2152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70"/>
          </a:bodyPr>
          <a:lstStyle xmlns:a="http://schemas.openxmlformats.org/drawingml/2006/main"/>
          <a:p xmlns:a="http://schemas.openxmlformats.org/drawingml/2006/main">
            <a:pPr algn="l">
              <a:lnSpc>
                <a:spcPct val="105000"/>
              </a:lnSpc>
              <a:buNone/>
              <a:defRPr sz="2175" b="1">
                <a:solidFill>
                  <a:srgbClr val="F7FAFC"/>
                </a:solidFill>
                <a:latin typeface="Aptos"/>
                <a:ea typeface="Aptos"/>
                <a:cs typeface="Aptos"/>
              </a:defRPr>
            </a:pPr>
            <a:r>
              <a:rPr sz="2175" b="1">
                <a:solidFill>
                  <a:srgbClr val="F7FAFC"/>
                </a:solidFill>
                <a:latin typeface="Aptos"/>
                <a:ea typeface="Aptos"/>
                <a:cs typeface="Aptos"/>
              </a:rPr>
              <a:t>Workstation</a:t>
            </a:r>
          </a:p>
        </p:txBody>
      </p:sp>
      <p:sp>
        <p:nvSpPr>
          <p:cNvPr id="5" name="">
            <a:extLst xmlns:a="http://schemas.openxmlformats.org/drawingml/2006/main">
              <a:ext uri="{FF2B5EF4-FFF2-40B4-BE49-F238E27FC236}">
                <a16:creationId xmlns:a16="http://schemas.microsoft.com/office/drawing/2014/main" id="{0365AD10-8F80-43CE-9360-2769F15F4D0A}"/>
              </a:ext>
            </a:extLst>
          </p:cNvPr>
          <p:cNvSpPr>
            <a:spLocks xmlns:a="http://schemas.openxmlformats.org/drawingml/2006/main" noGrp="1"/>
          </p:cNvSpPr>
          <p:nvPr/>
        </p:nvSpPr>
        <p:spPr>
          <a:xfrm xmlns:a="http://schemas.openxmlformats.org/drawingml/2006/main">
            <a:off x="685800" y="262890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75" b="0">
                <a:solidFill>
                  <a:srgbClr val="D7E8F7"/>
                </a:solidFill>
                <a:latin typeface="Aptos"/>
                <a:ea typeface="Aptos"/>
                <a:cs typeface="Aptos"/>
              </a:defRPr>
            </a:pPr>
            <a:r>
              <a:rPr sz="1575" b="0">
                <a:solidFill>
                  <a:srgbClr val="D7E8F7"/>
                </a:solidFill>
                <a:latin typeface="Aptos"/>
                <a:ea typeface="Aptos"/>
                <a:cs typeface="Aptos"/>
              </a:rPr>
              <a:t>GNOME como experiência principal para estudo, desenvolvimento e uso cotidiano.</a:t>
            </a:r>
          </a:p>
        </p:txBody>
      </p:sp>
      <p:sp>
        <p:nvSpPr>
          <p:cNvPr id="6" name="">
            <a:extLst xmlns:a="http://schemas.openxmlformats.org/drawingml/2006/main">
              <a:ext uri="{FF2B5EF4-FFF2-40B4-BE49-F238E27FC236}">
                <a16:creationId xmlns:a16="http://schemas.microsoft.com/office/drawing/2014/main" id="{1C70BA04-D9BA-49F6-A57C-724CA51DE814}"/>
              </a:ext>
            </a:extLst>
          </p:cNvPr>
          <p:cNvSpPr>
            <a:spLocks xmlns:a="http://schemas.openxmlformats.org/drawingml/2006/main" noGrp="1"/>
          </p:cNvSpPr>
          <p:nvPr/>
        </p:nvSpPr>
        <p:spPr>
          <a:xfrm xmlns:a="http://schemas.openxmlformats.org/drawingml/2006/main">
            <a:off x="685800" y="37719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70"/>
          </a:bodyPr>
          <a:lstStyle xmlns:a="http://schemas.openxmlformats.org/drawingml/2006/main"/>
          <a:p xmlns:a="http://schemas.openxmlformats.org/drawingml/2006/main">
            <a:pPr algn="l">
              <a:lnSpc>
                <a:spcPct val="105000"/>
              </a:lnSpc>
              <a:buNone/>
              <a:defRPr sz="2175" b="1">
                <a:solidFill>
                  <a:srgbClr val="F7FAFC"/>
                </a:solidFill>
                <a:latin typeface="Aptos"/>
                <a:ea typeface="Aptos"/>
                <a:cs typeface="Aptos"/>
              </a:defRPr>
            </a:pPr>
            <a:r>
              <a:rPr sz="2175" b="1">
                <a:solidFill>
                  <a:srgbClr val="F7FAFC"/>
                </a:solidFill>
                <a:latin typeface="Aptos"/>
                <a:ea typeface="Aptos"/>
                <a:cs typeface="Aptos"/>
              </a:rPr>
              <a:t>KDE Plasma</a:t>
            </a:r>
          </a:p>
        </p:txBody>
      </p:sp>
      <p:sp>
        <p:nvSpPr>
          <p:cNvPr id="7" name="">
            <a:extLst xmlns:a="http://schemas.openxmlformats.org/drawingml/2006/main">
              <a:ext uri="{FF2B5EF4-FFF2-40B4-BE49-F238E27FC236}">
                <a16:creationId xmlns:a16="http://schemas.microsoft.com/office/drawing/2014/main" id="{AD145A71-28A5-498A-8202-983A699F9B48}"/>
              </a:ext>
            </a:extLst>
          </p:cNvPr>
          <p:cNvSpPr>
            <a:spLocks xmlns:a="http://schemas.openxmlformats.org/drawingml/2006/main" noGrp="1"/>
          </p:cNvSpPr>
          <p:nvPr/>
        </p:nvSpPr>
        <p:spPr>
          <a:xfrm xmlns:a="http://schemas.openxmlformats.org/drawingml/2006/main">
            <a:off x="685800" y="4248150"/>
            <a:ext cx="400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75" b="0">
                <a:solidFill>
                  <a:srgbClr val="D7E8F7"/>
                </a:solidFill>
                <a:latin typeface="Aptos"/>
                <a:ea typeface="Aptos"/>
                <a:cs typeface="Aptos"/>
              </a:defRPr>
            </a:pPr>
            <a:r>
              <a:rPr sz="1575" b="0">
                <a:solidFill>
                  <a:srgbClr val="D7E8F7"/>
                </a:solidFill>
                <a:latin typeface="Aptos"/>
                <a:ea typeface="Aptos"/>
                <a:cs typeface="Aptos"/>
              </a:rPr>
              <a:t>Uma edição oficial com interface KDE e ampla personalização.</a:t>
            </a:r>
          </a:p>
        </p:txBody>
      </p:sp>
      <p:sp>
        <p:nvSpPr>
          <p:cNvPr id="8" name="">
            <a:extLst xmlns:a="http://schemas.openxmlformats.org/drawingml/2006/main">
              <a:ext uri="{FF2B5EF4-FFF2-40B4-BE49-F238E27FC236}">
                <a16:creationId xmlns:a16="http://schemas.microsoft.com/office/drawing/2014/main" id="{0458F639-01CA-45D7-8F21-04D381B9C7DD}"/>
              </a:ext>
            </a:extLst>
          </p:cNvPr>
          <p:cNvSpPr>
            <a:spLocks xmlns:a="http://schemas.openxmlformats.org/drawingml/2006/main" noGrp="1"/>
          </p:cNvSpPr>
          <p:nvPr/>
        </p:nvSpPr>
        <p:spPr>
          <a:xfrm xmlns:a="http://schemas.openxmlformats.org/drawingml/2006/main">
            <a:off x="6667500" y="17145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200" b="1">
                <a:solidFill>
                  <a:srgbClr val="51A2DA"/>
                </a:solidFill>
                <a:latin typeface="Aptos"/>
                <a:ea typeface="Aptos"/>
                <a:cs typeface="Aptos"/>
              </a:defRPr>
            </a:pPr>
            <a:r>
              <a:rPr sz="1200" b="1">
                <a:solidFill>
                  <a:srgbClr val="51A2DA"/>
                </a:solidFill>
                <a:latin typeface="Aptos"/>
                <a:ea typeface="Aptos"/>
                <a:cs typeface="Aptos"/>
              </a:rPr>
              <a:t>INFRAESTRUTURA</a:t>
            </a:r>
          </a:p>
        </p:txBody>
      </p:sp>
      <p:sp>
        <p:nvSpPr>
          <p:cNvPr id="9" name="">
            <a:extLst xmlns:a="http://schemas.openxmlformats.org/drawingml/2006/main">
              <a:ext uri="{FF2B5EF4-FFF2-40B4-BE49-F238E27FC236}">
                <a16:creationId xmlns:a16="http://schemas.microsoft.com/office/drawing/2014/main" id="{5ACDE547-A762-4AE0-89DB-DAA6C1B92A6C}"/>
              </a:ext>
            </a:extLst>
          </p:cNvPr>
          <p:cNvSpPr>
            <a:spLocks xmlns:a="http://schemas.openxmlformats.org/drawingml/2006/main" noGrp="1"/>
          </p:cNvSpPr>
          <p:nvPr/>
        </p:nvSpPr>
        <p:spPr>
          <a:xfrm xmlns:a="http://schemas.openxmlformats.org/drawingml/2006/main">
            <a:off x="6667500" y="215265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70"/>
          </a:bodyPr>
          <a:lstStyle xmlns:a="http://schemas.openxmlformats.org/drawingml/2006/main"/>
          <a:p xmlns:a="http://schemas.openxmlformats.org/drawingml/2006/main">
            <a:pPr algn="l">
              <a:lnSpc>
                <a:spcPct val="105000"/>
              </a:lnSpc>
              <a:buNone/>
              <a:defRPr sz="2175" b="1">
                <a:solidFill>
                  <a:srgbClr val="F7FAFC"/>
                </a:solidFill>
                <a:latin typeface="Aptos"/>
                <a:ea typeface="Aptos"/>
                <a:cs typeface="Aptos"/>
              </a:defRPr>
            </a:pPr>
            <a:r>
              <a:rPr sz="2175" b="1">
                <a:solidFill>
                  <a:srgbClr val="F7FAFC"/>
                </a:solidFill>
                <a:latin typeface="Aptos"/>
                <a:ea typeface="Aptos"/>
                <a:cs typeface="Aptos"/>
              </a:rPr>
              <a:t>Server e Cloud</a:t>
            </a:r>
          </a:p>
        </p:txBody>
      </p:sp>
      <p:sp>
        <p:nvSpPr>
          <p:cNvPr id="10" name="">
            <a:extLst xmlns:a="http://schemas.openxmlformats.org/drawingml/2006/main">
              <a:ext uri="{FF2B5EF4-FFF2-40B4-BE49-F238E27FC236}">
                <a16:creationId xmlns:a16="http://schemas.microsoft.com/office/drawing/2014/main" id="{A9D3B424-E80D-442F-87E5-8FBA0C473156}"/>
              </a:ext>
            </a:extLst>
          </p:cNvPr>
          <p:cNvSpPr>
            <a:spLocks xmlns:a="http://schemas.openxmlformats.org/drawingml/2006/main" noGrp="1"/>
          </p:cNvSpPr>
          <p:nvPr/>
        </p:nvSpPr>
        <p:spPr>
          <a:xfrm xmlns:a="http://schemas.openxmlformats.org/drawingml/2006/main">
            <a:off x="6667500" y="2628900"/>
            <a:ext cx="419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75" b="0">
                <a:solidFill>
                  <a:srgbClr val="D7E8F7"/>
                </a:solidFill>
                <a:latin typeface="Aptos"/>
                <a:ea typeface="Aptos"/>
                <a:cs typeface="Aptos"/>
              </a:defRPr>
            </a:pPr>
            <a:r>
              <a:rPr sz="1575" b="0">
                <a:solidFill>
                  <a:srgbClr val="D7E8F7"/>
                </a:solidFill>
                <a:latin typeface="Aptos"/>
                <a:ea typeface="Aptos"/>
                <a:cs typeface="Aptos"/>
              </a:rPr>
              <a:t>Serviços de rede, laboratórios, hospedagem e imagens preparadas para provedores de nuvem.</a:t>
            </a:r>
          </a:p>
        </p:txBody>
      </p:sp>
      <p:sp>
        <p:nvSpPr>
          <p:cNvPr id="11" name="">
            <a:extLst xmlns:a="http://schemas.openxmlformats.org/drawingml/2006/main">
              <a:ext uri="{FF2B5EF4-FFF2-40B4-BE49-F238E27FC236}">
                <a16:creationId xmlns:a16="http://schemas.microsoft.com/office/drawing/2014/main" id="{869C86A8-2E4F-4631-84A9-7C6C7FF94AA5}"/>
              </a:ext>
            </a:extLst>
          </p:cNvPr>
          <p:cNvSpPr>
            <a:spLocks xmlns:a="http://schemas.openxmlformats.org/drawingml/2006/main" noGrp="1"/>
          </p:cNvSpPr>
          <p:nvPr/>
        </p:nvSpPr>
        <p:spPr>
          <a:xfrm xmlns:a="http://schemas.openxmlformats.org/drawingml/2006/main">
            <a:off x="6667500" y="3771900"/>
            <a:ext cx="4095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670"/>
          </a:bodyPr>
          <a:lstStyle xmlns:a="http://schemas.openxmlformats.org/drawingml/2006/main"/>
          <a:p xmlns:a="http://schemas.openxmlformats.org/drawingml/2006/main">
            <a:pPr algn="l">
              <a:lnSpc>
                <a:spcPct val="105000"/>
              </a:lnSpc>
              <a:buNone/>
              <a:defRPr sz="2175" b="1">
                <a:solidFill>
                  <a:srgbClr val="F7FAFC"/>
                </a:solidFill>
                <a:latin typeface="Aptos"/>
                <a:ea typeface="Aptos"/>
                <a:cs typeface="Aptos"/>
              </a:defRPr>
            </a:pPr>
            <a:r>
              <a:rPr sz="2175" b="1">
                <a:solidFill>
                  <a:srgbClr val="F7FAFC"/>
                </a:solidFill>
                <a:latin typeface="Aptos"/>
                <a:ea typeface="Aptos"/>
                <a:cs typeface="Aptos"/>
              </a:rPr>
              <a:t>CoreOS e IoT</a:t>
            </a:r>
          </a:p>
        </p:txBody>
      </p:sp>
      <p:sp>
        <p:nvSpPr>
          <p:cNvPr id="12" name="">
            <a:extLst xmlns:a="http://schemas.openxmlformats.org/drawingml/2006/main">
              <a:ext uri="{FF2B5EF4-FFF2-40B4-BE49-F238E27FC236}">
                <a16:creationId xmlns:a16="http://schemas.microsoft.com/office/drawing/2014/main" id="{30AAF4D8-2CCE-4BD2-93B3-894918C70326}"/>
              </a:ext>
            </a:extLst>
          </p:cNvPr>
          <p:cNvSpPr>
            <a:spLocks xmlns:a="http://schemas.openxmlformats.org/drawingml/2006/main" noGrp="1"/>
          </p:cNvSpPr>
          <p:nvPr/>
        </p:nvSpPr>
        <p:spPr>
          <a:xfrm xmlns:a="http://schemas.openxmlformats.org/drawingml/2006/main">
            <a:off x="6667500" y="4248150"/>
            <a:ext cx="4191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75" b="0">
                <a:solidFill>
                  <a:srgbClr val="D7E8F7"/>
                </a:solidFill>
                <a:latin typeface="Aptos"/>
                <a:ea typeface="Aptos"/>
                <a:cs typeface="Aptos"/>
              </a:defRPr>
            </a:pPr>
            <a:r>
              <a:rPr sz="1575" b="0">
                <a:solidFill>
                  <a:srgbClr val="D7E8F7"/>
                </a:solidFill>
                <a:latin typeface="Aptos"/>
                <a:ea typeface="Aptos"/>
                <a:cs typeface="Aptos"/>
              </a:rPr>
              <a:t>Sistemas especializados para contêineres e dispositivos conectados.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fda6208177984904"/>
          <a:srcRect xmlns:a="http://schemas.openxmlformats.org/drawingml/2006/main" l="33911" t="0" r="33911" b="0"/>
          <a:stretch xmlns:a="http://schemas.openxmlformats.org/drawingml/2006/main">
            <a:fillRect l="0" t="0" r="0" b="0"/>
          </a:stretch>
        </p:blipFill>
        <p:spPr>
          <a:xfrm xmlns:a="http://schemas.openxmlformats.org/drawingml/2006/main">
            <a:off x="4629150" y="1562100"/>
            <a:ext cx="1790700" cy="3848100"/>
          </a:xfrm>
          <a:prstGeom xmlns:a="http://schemas.openxmlformats.org/drawingml/2006/main" prst="roundRect">
            <a:avLst>
              <a:gd name="adj" fmla="val 8511"/>
            </a:avLst>
          </a:prstGeom>
        </p:spPr>
      </p:pic>
      <p:sp>
        <p:nvSpPr>
          <p:cNvPr id="14" name="">
            <a:extLst xmlns:a="http://schemas.openxmlformats.org/drawingml/2006/main">
              <a:ext uri="{FF2B5EF4-FFF2-40B4-BE49-F238E27FC236}">
                <a16:creationId xmlns:a16="http://schemas.microsoft.com/office/drawing/2014/main" id="{302225A7-9C8E-4ED7-9AAB-9E12160207AD}"/>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04</a:t>
            </a:r>
          </a:p>
        </p:txBody>
      </p:sp>
    </p:spTree>
    <p:extLst>
      <p:ext uri="{BB962C8B-B14F-4D97-AF65-F5344CB8AC3E}">
        <p14:creationId xmlns:p14="http://schemas.microsoft.com/office/powerpoint/2010/main" val="1913524957"/>
      </p:ext>
    </p:extLst>
  </p:cSld>
</p:sld>
</file>

<file path=ppt/slides/slide5.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DA2556D-70E9-4B11-9515-B7398BBA3CB0}"/>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COMPONENTES</a:t>
            </a:r>
          </a:p>
        </p:txBody>
      </p:sp>
      <p:sp>
        <p:nvSpPr>
          <p:cNvPr id="2" name="">
            <a:extLst xmlns:a="http://schemas.openxmlformats.org/drawingml/2006/main">
              <a:ext uri="{FF2B5EF4-FFF2-40B4-BE49-F238E27FC236}">
                <a16:creationId xmlns:a16="http://schemas.microsoft.com/office/drawing/2014/main" id="{EFC7837F-B83E-401D-B507-1DA1B722DD99}"/>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Tecnologias que definem o sistema</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5fe00b8f7e9947cc"/>
          <a:stretch xmlns:a="http://schemas.openxmlformats.org/drawingml/2006/main"/>
        </p:blipFill>
        <p:spPr>
          <a:xfrm xmlns:a="http://schemas.openxmlformats.org/drawingml/2006/main">
            <a:off x="685800" y="1714500"/>
            <a:ext cx="6096000" cy="3810000"/>
          </a:xfrm>
          <a:prstGeom xmlns:a="http://schemas.openxmlformats.org/drawingml/2006/main" prst="roundRect">
            <a:avLst>
              <a:gd name="adj" fmla="val 3810"/>
            </a:avLst>
          </a:prstGeom>
        </p:spPr>
      </p:pic>
      <p:sp>
        <p:nvSpPr>
          <p:cNvPr id="4" name="">
            <a:extLst xmlns:a="http://schemas.openxmlformats.org/drawingml/2006/main">
              <a:ext uri="{FF2B5EF4-FFF2-40B4-BE49-F238E27FC236}">
                <a16:creationId xmlns:a16="http://schemas.microsoft.com/office/drawing/2014/main" id="{290407C2-AD83-4D6A-B05C-0F27E43CF2E8}"/>
              </a:ext>
            </a:extLst>
          </p:cNvPr>
          <p:cNvSpPr>
            <a:spLocks xmlns:a="http://schemas.openxmlformats.org/drawingml/2006/main" noGrp="1"/>
          </p:cNvSpPr>
          <p:nvPr/>
        </p:nvSpPr>
        <p:spPr>
          <a:xfrm xmlns:a="http://schemas.openxmlformats.org/drawingml/2006/main">
            <a:off x="7334250" y="163830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59"/>
          </a:bodyPr>
          <a:lstStyle xmlns:a="http://schemas.openxmlformats.org/drawingml/2006/main"/>
          <a:p xmlns:a="http://schemas.openxmlformats.org/drawingml/2006/main">
            <a:pPr algn="l">
              <a:lnSpc>
                <a:spcPct val="105000"/>
              </a:lnSpc>
              <a:buNone/>
              <a:defRPr sz="1875" b="1">
                <a:solidFill>
                  <a:srgbClr val="51A2DA"/>
                </a:solidFill>
                <a:latin typeface="Aptos"/>
                <a:ea typeface="Aptos"/>
                <a:cs typeface="Aptos"/>
              </a:defRPr>
            </a:pPr>
            <a:r>
              <a:rPr sz="1875" b="1">
                <a:solidFill>
                  <a:srgbClr val="51A2DA"/>
                </a:solidFill>
                <a:latin typeface="Aptos"/>
                <a:ea typeface="Aptos"/>
                <a:cs typeface="Aptos"/>
              </a:rPr>
              <a:t>Linux e systemd</a:t>
            </a:r>
          </a:p>
        </p:txBody>
      </p:sp>
      <p:sp>
        <p:nvSpPr>
          <p:cNvPr id="5" name="">
            <a:extLst xmlns:a="http://schemas.openxmlformats.org/drawingml/2006/main">
              <a:ext uri="{FF2B5EF4-FFF2-40B4-BE49-F238E27FC236}">
                <a16:creationId xmlns:a16="http://schemas.microsoft.com/office/drawing/2014/main" id="{CC91CDA1-A260-4D0E-81A2-37B9AEFA092F}"/>
              </a:ext>
            </a:extLst>
          </p:cNvPr>
          <p:cNvSpPr>
            <a:spLocks xmlns:a="http://schemas.openxmlformats.org/drawingml/2006/main" noGrp="1"/>
          </p:cNvSpPr>
          <p:nvPr/>
        </p:nvSpPr>
        <p:spPr>
          <a:xfrm xmlns:a="http://schemas.openxmlformats.org/drawingml/2006/main">
            <a:off x="7334250" y="2057400"/>
            <a:ext cx="4000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00" b="0">
                <a:solidFill>
                  <a:srgbClr val="D7E8F7"/>
                </a:solidFill>
                <a:latin typeface="Aptos"/>
                <a:ea typeface="Aptos"/>
                <a:cs typeface="Aptos"/>
              </a:defRPr>
            </a:pPr>
            <a:r>
              <a:rPr sz="1500" b="0">
                <a:solidFill>
                  <a:srgbClr val="D7E8F7"/>
                </a:solidFill>
                <a:latin typeface="Aptos"/>
                <a:ea typeface="Aptos"/>
                <a:cs typeface="Aptos"/>
              </a:rPr>
              <a:t>O kernel gerencia hardware e processos. O systemd organiza a inicialização e os serviços.</a:t>
            </a:r>
          </a:p>
        </p:txBody>
      </p:sp>
      <p:sp>
        <p:nvSpPr>
          <p:cNvPr id="6" name="">
            <a:extLst xmlns:a="http://schemas.openxmlformats.org/drawingml/2006/main">
              <a:ext uri="{FF2B5EF4-FFF2-40B4-BE49-F238E27FC236}">
                <a16:creationId xmlns:a16="http://schemas.microsoft.com/office/drawing/2014/main" id="{127B60A8-AA15-4AC9-958C-BCBBF4A0D384}"/>
              </a:ext>
            </a:extLst>
          </p:cNvPr>
          <p:cNvSpPr>
            <a:spLocks xmlns:a="http://schemas.openxmlformats.org/drawingml/2006/main" noGrp="1"/>
          </p:cNvSpPr>
          <p:nvPr/>
        </p:nvSpPr>
        <p:spPr>
          <a:xfrm xmlns:a="http://schemas.openxmlformats.org/drawingml/2006/main">
            <a:off x="7334250" y="3009900"/>
            <a:ext cx="3714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59"/>
          </a:bodyPr>
          <a:lstStyle xmlns:a="http://schemas.openxmlformats.org/drawingml/2006/main"/>
          <a:p xmlns:a="http://schemas.openxmlformats.org/drawingml/2006/main">
            <a:pPr algn="l">
              <a:lnSpc>
                <a:spcPct val="105000"/>
              </a:lnSpc>
              <a:buNone/>
              <a:defRPr sz="1875" b="1">
                <a:solidFill>
                  <a:srgbClr val="51A2DA"/>
                </a:solidFill>
                <a:latin typeface="Aptos"/>
                <a:ea typeface="Aptos"/>
                <a:cs typeface="Aptos"/>
              </a:defRPr>
            </a:pPr>
            <a:r>
              <a:rPr sz="1875" b="1">
                <a:solidFill>
                  <a:srgbClr val="51A2DA"/>
                </a:solidFill>
                <a:latin typeface="Aptos"/>
                <a:ea typeface="Aptos"/>
                <a:cs typeface="Aptos"/>
              </a:rPr>
              <a:t>RPM e DNF5</a:t>
            </a:r>
          </a:p>
        </p:txBody>
      </p:sp>
      <p:sp>
        <p:nvSpPr>
          <p:cNvPr id="7" name="">
            <a:extLst xmlns:a="http://schemas.openxmlformats.org/drawingml/2006/main">
              <a:ext uri="{FF2B5EF4-FFF2-40B4-BE49-F238E27FC236}">
                <a16:creationId xmlns:a16="http://schemas.microsoft.com/office/drawing/2014/main" id="{0BA8A205-6769-46E2-92E9-57CED0A4E4A1}"/>
              </a:ext>
            </a:extLst>
          </p:cNvPr>
          <p:cNvSpPr>
            <a:spLocks xmlns:a="http://schemas.openxmlformats.org/drawingml/2006/main" noGrp="1"/>
          </p:cNvSpPr>
          <p:nvPr/>
        </p:nvSpPr>
        <p:spPr>
          <a:xfrm xmlns:a="http://schemas.openxmlformats.org/drawingml/2006/main">
            <a:off x="7334250" y="3429000"/>
            <a:ext cx="4000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00" b="0">
                <a:solidFill>
                  <a:srgbClr val="D7E8F7"/>
                </a:solidFill>
                <a:latin typeface="Aptos"/>
                <a:ea typeface="Aptos"/>
                <a:cs typeface="Aptos"/>
              </a:defRPr>
            </a:pPr>
            <a:r>
              <a:rPr sz="1500" b="0">
                <a:solidFill>
                  <a:srgbClr val="D7E8F7"/>
                </a:solidFill>
                <a:latin typeface="Aptos"/>
                <a:ea typeface="Aptos"/>
                <a:cs typeface="Aptos"/>
              </a:rPr>
              <a:t>Pacotes, dependências e atualizações são controlados por repositórios assinados.</a:t>
            </a:r>
          </a:p>
        </p:txBody>
      </p:sp>
      <p:sp>
        <p:nvSpPr>
          <p:cNvPr id="8" name="">
            <a:extLst xmlns:a="http://schemas.openxmlformats.org/drawingml/2006/main">
              <a:ext uri="{FF2B5EF4-FFF2-40B4-BE49-F238E27FC236}">
                <a16:creationId xmlns:a16="http://schemas.microsoft.com/office/drawing/2014/main" id="{39618393-E829-4AD2-B2FB-5A80DCC5CAAB}"/>
              </a:ext>
            </a:extLst>
          </p:cNvPr>
          <p:cNvSpPr>
            <a:spLocks xmlns:a="http://schemas.openxmlformats.org/drawingml/2006/main" noGrp="1"/>
          </p:cNvSpPr>
          <p:nvPr/>
        </p:nvSpPr>
        <p:spPr>
          <a:xfrm xmlns:a="http://schemas.openxmlformats.org/drawingml/2006/main">
            <a:off x="7334250" y="432435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159"/>
          </a:bodyPr>
          <a:lstStyle xmlns:a="http://schemas.openxmlformats.org/drawingml/2006/main"/>
          <a:p xmlns:a="http://schemas.openxmlformats.org/drawingml/2006/main">
            <a:pPr algn="l">
              <a:lnSpc>
                <a:spcPct val="105000"/>
              </a:lnSpc>
              <a:buNone/>
              <a:defRPr sz="1875" b="1">
                <a:solidFill>
                  <a:srgbClr val="51A2DA"/>
                </a:solidFill>
                <a:latin typeface="Aptos"/>
                <a:ea typeface="Aptos"/>
                <a:cs typeface="Aptos"/>
              </a:defRPr>
            </a:pPr>
            <a:r>
              <a:rPr sz="1875" b="1">
                <a:solidFill>
                  <a:srgbClr val="51A2DA"/>
                </a:solidFill>
                <a:latin typeface="Aptos"/>
                <a:ea typeface="Aptos"/>
                <a:cs typeface="Aptos"/>
              </a:rPr>
              <a:t>GNOME, Wayland e segurança</a:t>
            </a:r>
          </a:p>
        </p:txBody>
      </p:sp>
      <p:sp>
        <p:nvSpPr>
          <p:cNvPr id="9" name="">
            <a:extLst xmlns:a="http://schemas.openxmlformats.org/drawingml/2006/main">
              <a:ext uri="{FF2B5EF4-FFF2-40B4-BE49-F238E27FC236}">
                <a16:creationId xmlns:a16="http://schemas.microsoft.com/office/drawing/2014/main" id="{BC7957D3-1674-4C89-A5F6-70BEDB1CC3DB}"/>
              </a:ext>
            </a:extLst>
          </p:cNvPr>
          <p:cNvSpPr>
            <a:spLocks xmlns:a="http://schemas.openxmlformats.org/drawingml/2006/main" noGrp="1"/>
          </p:cNvSpPr>
          <p:nvPr/>
        </p:nvSpPr>
        <p:spPr>
          <a:xfrm xmlns:a="http://schemas.openxmlformats.org/drawingml/2006/main">
            <a:off x="7334250" y="4743450"/>
            <a:ext cx="40005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00" b="0">
                <a:solidFill>
                  <a:srgbClr val="D7E8F7"/>
                </a:solidFill>
                <a:latin typeface="Aptos"/>
                <a:ea typeface="Aptos"/>
                <a:cs typeface="Aptos"/>
              </a:defRPr>
            </a:pPr>
            <a:r>
              <a:rPr sz="1500" b="0">
                <a:solidFill>
                  <a:srgbClr val="D7E8F7"/>
                </a:solidFill>
                <a:latin typeface="Aptos"/>
                <a:ea typeface="Aptos"/>
                <a:cs typeface="Aptos"/>
              </a:rPr>
              <a:t>A interface moderna usa Wayland. SELinux e firewalld reforçam o controle de acesso e a rede.</a:t>
            </a:r>
          </a:p>
        </p:txBody>
      </p:sp>
      <p:sp>
        <p:nvSpPr>
          <p:cNvPr id="10" name="">
            <a:extLst xmlns:a="http://schemas.openxmlformats.org/drawingml/2006/main">
              <a:ext uri="{FF2B5EF4-FFF2-40B4-BE49-F238E27FC236}">
                <a16:creationId xmlns:a16="http://schemas.microsoft.com/office/drawing/2014/main" id="{F22D3367-C62B-4EA2-8099-265D96CC6C03}"/>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05</a:t>
            </a:r>
          </a:p>
        </p:txBody>
      </p:sp>
    </p:spTree>
    <p:extLst>
      <p:ext uri="{BB962C8B-B14F-4D97-AF65-F5344CB8AC3E}">
        <p14:creationId xmlns:p14="http://schemas.microsoft.com/office/powerpoint/2010/main" val="795072164"/>
      </p:ext>
    </p:extLst>
  </p:cSld>
</p:sld>
</file>

<file path=ppt/slides/slide6.xml><?xml version="1.0" encoding="utf-8"?>
<p:sld xmlns:p="http://schemas.openxmlformats.org/presentationml/2006/main">
  <p:cSld>
    <p:bg>
      <p:bgPr>
        <a:solidFill xmlns:a="http://schemas.openxmlformats.org/drawingml/2006/main">
          <a:srgbClr val="121A2E"/>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9BAAA868-1D76-4DFB-966C-94ED1E371DB1}"/>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USO DIÁRIO E DESENVOLVIMENTO</a:t>
            </a:r>
          </a:p>
        </p:txBody>
      </p:sp>
      <p:sp>
        <p:nvSpPr>
          <p:cNvPr id="2" name="">
            <a:extLst xmlns:a="http://schemas.openxmlformats.org/drawingml/2006/main">
              <a:ext uri="{FF2B5EF4-FFF2-40B4-BE49-F238E27FC236}">
                <a16:creationId xmlns:a16="http://schemas.microsoft.com/office/drawing/2014/main" id="{276140A4-5027-46D7-B9B9-941D5DC3CA8C}"/>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Aplicativos e ferramentas</a:t>
            </a:r>
          </a:p>
        </p:txBody>
      </p:sp>
      <p:sp>
        <p:nvSpPr>
          <p:cNvPr id="3" name="">
            <a:extLst xmlns:a="http://schemas.openxmlformats.org/drawingml/2006/main">
              <a:ext uri="{FF2B5EF4-FFF2-40B4-BE49-F238E27FC236}">
                <a16:creationId xmlns:a16="http://schemas.microsoft.com/office/drawing/2014/main" id="{747142D9-3CAA-4116-8F76-1A1F13C2FE75}"/>
              </a:ext>
            </a:extLst>
          </p:cNvPr>
          <p:cNvSpPr>
            <a:spLocks xmlns:a="http://schemas.openxmlformats.org/drawingml/2006/main" noGrp="1"/>
          </p:cNvSpPr>
          <p:nvPr/>
        </p:nvSpPr>
        <p:spPr>
          <a:xfrm xmlns:a="http://schemas.openxmlformats.org/drawingml/2006/main">
            <a:off x="685800" y="17335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37"/>
          </a:bodyPr>
          <a:lstStyle xmlns:a="http://schemas.openxmlformats.org/drawingml/2006/main"/>
          <a:p xmlns:a="http://schemas.openxmlformats.org/drawingml/2006/main">
            <a:pPr algn="l">
              <a:lnSpc>
                <a:spcPct val="105000"/>
              </a:lnSpc>
              <a:buNone/>
              <a:defRPr sz="2100" b="1">
                <a:solidFill>
                  <a:srgbClr val="51A2DA"/>
                </a:solidFill>
                <a:latin typeface="Aptos"/>
                <a:ea typeface="Aptos"/>
                <a:cs typeface="Aptos"/>
              </a:defRPr>
            </a:pPr>
            <a:r>
              <a:rPr sz="2100" b="1">
                <a:solidFill>
                  <a:srgbClr val="51A2DA"/>
                </a:solidFill>
                <a:latin typeface="Aptos"/>
                <a:ea typeface="Aptos"/>
                <a:cs typeface="Aptos"/>
              </a:rPr>
              <a:t>Software</a:t>
            </a:r>
          </a:p>
        </p:txBody>
      </p:sp>
      <p:sp>
        <p:nvSpPr>
          <p:cNvPr id="4" name="">
            <a:extLst xmlns:a="http://schemas.openxmlformats.org/drawingml/2006/main">
              <a:ext uri="{FF2B5EF4-FFF2-40B4-BE49-F238E27FC236}">
                <a16:creationId xmlns:a16="http://schemas.microsoft.com/office/drawing/2014/main" id="{504CBF3B-1A6A-4CFF-97C5-14C6DA4D15F2}"/>
              </a:ext>
            </a:extLst>
          </p:cNvPr>
          <p:cNvSpPr>
            <a:spLocks xmlns:a="http://schemas.openxmlformats.org/drawingml/2006/main" noGrp="1"/>
          </p:cNvSpPr>
          <p:nvPr/>
        </p:nvSpPr>
        <p:spPr>
          <a:xfrm xmlns:a="http://schemas.openxmlformats.org/drawingml/2006/main">
            <a:off x="685800" y="2228850"/>
            <a:ext cx="44767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650" b="0">
                <a:solidFill>
                  <a:srgbClr val="D7E8F7"/>
                </a:solidFill>
                <a:latin typeface="Aptos"/>
                <a:ea typeface="Aptos"/>
                <a:cs typeface="Aptos"/>
              </a:defRPr>
            </a:pPr>
            <a:r>
              <a:rPr sz="1650" b="0">
                <a:solidFill>
                  <a:srgbClr val="D7E8F7"/>
                </a:solidFill>
                <a:latin typeface="Aptos"/>
                <a:ea typeface="Aptos"/>
                <a:cs typeface="Aptos"/>
              </a:rPr>
              <a:t>Instala programas por uma interface gráfica e reúne pacotes dos repositórios e aplicativos Flatpak.</a:t>
            </a:r>
          </a:p>
        </p:txBody>
      </p:sp>
      <p:sp>
        <p:nvSpPr>
          <p:cNvPr id="5" name="">
            <a:extLst xmlns:a="http://schemas.openxmlformats.org/drawingml/2006/main">
              <a:ext uri="{FF2B5EF4-FFF2-40B4-BE49-F238E27FC236}">
                <a16:creationId xmlns:a16="http://schemas.microsoft.com/office/drawing/2014/main" id="{071BBE37-2A1F-4478-98C9-ECADD2A66A0C}"/>
              </a:ext>
            </a:extLst>
          </p:cNvPr>
          <p:cNvSpPr>
            <a:spLocks xmlns:a="http://schemas.openxmlformats.org/drawingml/2006/main" noGrp="1"/>
          </p:cNvSpPr>
          <p:nvPr/>
        </p:nvSpPr>
        <p:spPr>
          <a:xfrm xmlns:a="http://schemas.openxmlformats.org/drawingml/2006/main">
            <a:off x="685800" y="3409950"/>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37"/>
          </a:bodyPr>
          <a:lstStyle xmlns:a="http://schemas.openxmlformats.org/drawingml/2006/main"/>
          <a:p xmlns:a="http://schemas.openxmlformats.org/drawingml/2006/main">
            <a:pPr algn="l">
              <a:lnSpc>
                <a:spcPct val="105000"/>
              </a:lnSpc>
              <a:buNone/>
              <a:defRPr sz="2100" b="1">
                <a:solidFill>
                  <a:srgbClr val="51A2DA"/>
                </a:solidFill>
                <a:latin typeface="Aptos"/>
                <a:ea typeface="Aptos"/>
                <a:cs typeface="Aptos"/>
              </a:defRPr>
            </a:pPr>
            <a:r>
              <a:rPr sz="2100" b="1">
                <a:solidFill>
                  <a:srgbClr val="51A2DA"/>
                </a:solidFill>
                <a:latin typeface="Aptos"/>
                <a:ea typeface="Aptos"/>
                <a:cs typeface="Aptos"/>
              </a:rPr>
              <a:t>Terminal e DNF5</a:t>
            </a:r>
          </a:p>
        </p:txBody>
      </p:sp>
      <p:sp>
        <p:nvSpPr>
          <p:cNvPr id="6" name="">
            <a:extLst xmlns:a="http://schemas.openxmlformats.org/drawingml/2006/main">
              <a:ext uri="{FF2B5EF4-FFF2-40B4-BE49-F238E27FC236}">
                <a16:creationId xmlns:a16="http://schemas.microsoft.com/office/drawing/2014/main" id="{6289F87B-BEAC-4B29-9E98-F91C1779C1B9}"/>
              </a:ext>
            </a:extLst>
          </p:cNvPr>
          <p:cNvSpPr>
            <a:spLocks xmlns:a="http://schemas.openxmlformats.org/drawingml/2006/main" noGrp="1"/>
          </p:cNvSpPr>
          <p:nvPr/>
        </p:nvSpPr>
        <p:spPr>
          <a:xfrm xmlns:a="http://schemas.openxmlformats.org/drawingml/2006/main">
            <a:off x="685800" y="3905250"/>
            <a:ext cx="44767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650" b="0">
                <a:solidFill>
                  <a:srgbClr val="D7E8F7"/>
                </a:solidFill>
                <a:latin typeface="Aptos"/>
                <a:ea typeface="Aptos"/>
                <a:cs typeface="Aptos"/>
              </a:defRPr>
            </a:pPr>
            <a:r>
              <a:rPr sz="1650" b="0">
                <a:solidFill>
                  <a:srgbClr val="D7E8F7"/>
                </a:solidFill>
                <a:latin typeface="Aptos"/>
                <a:ea typeface="Aptos"/>
                <a:cs typeface="Aptos"/>
              </a:rPr>
              <a:t>Permitem atualizar o sistema, instalar ferramentas e automatizar tarefas.</a:t>
            </a:r>
          </a:p>
        </p:txBody>
      </p:sp>
      <p:sp>
        <p:nvSpPr>
          <p:cNvPr id="7" name="">
            <a:extLst xmlns:a="http://schemas.openxmlformats.org/drawingml/2006/main">
              <a:ext uri="{FF2B5EF4-FFF2-40B4-BE49-F238E27FC236}">
                <a16:creationId xmlns:a16="http://schemas.microsoft.com/office/drawing/2014/main" id="{C3D5792E-9001-4310-9F3B-141F417991D3}"/>
              </a:ext>
            </a:extLst>
          </p:cNvPr>
          <p:cNvSpPr>
            <a:spLocks xmlns:a="http://schemas.openxmlformats.org/drawingml/2006/main" noGrp="1"/>
          </p:cNvSpPr>
          <p:nvPr/>
        </p:nvSpPr>
        <p:spPr>
          <a:xfrm xmlns:a="http://schemas.openxmlformats.org/drawingml/2006/main">
            <a:off x="685800" y="4895850"/>
            <a:ext cx="447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837"/>
          </a:bodyPr>
          <a:lstStyle xmlns:a="http://schemas.openxmlformats.org/drawingml/2006/main"/>
          <a:p xmlns:a="http://schemas.openxmlformats.org/drawingml/2006/main">
            <a:pPr algn="l">
              <a:lnSpc>
                <a:spcPct val="105000"/>
              </a:lnSpc>
              <a:buNone/>
              <a:defRPr sz="2100" b="1">
                <a:solidFill>
                  <a:srgbClr val="51A2DA"/>
                </a:solidFill>
                <a:latin typeface="Aptos"/>
                <a:ea typeface="Aptos"/>
                <a:cs typeface="Aptos"/>
              </a:defRPr>
            </a:pPr>
            <a:r>
              <a:rPr sz="2100" b="1">
                <a:solidFill>
                  <a:srgbClr val="51A2DA"/>
                </a:solidFill>
                <a:latin typeface="Aptos"/>
                <a:ea typeface="Aptos"/>
                <a:cs typeface="Aptos"/>
              </a:rPr>
              <a:t>Boxes, Podman e toolchains</a:t>
            </a:r>
          </a:p>
        </p:txBody>
      </p:sp>
      <p:sp>
        <p:nvSpPr>
          <p:cNvPr id="8" name="">
            <a:extLst xmlns:a="http://schemas.openxmlformats.org/drawingml/2006/main">
              <a:ext uri="{FF2B5EF4-FFF2-40B4-BE49-F238E27FC236}">
                <a16:creationId xmlns:a16="http://schemas.microsoft.com/office/drawing/2014/main" id="{6BCFD161-A873-4AE3-9CCB-8AF7F8866D08}"/>
              </a:ext>
            </a:extLst>
          </p:cNvPr>
          <p:cNvSpPr>
            <a:spLocks xmlns:a="http://schemas.openxmlformats.org/drawingml/2006/main" noGrp="1"/>
          </p:cNvSpPr>
          <p:nvPr/>
        </p:nvSpPr>
        <p:spPr>
          <a:xfrm xmlns:a="http://schemas.openxmlformats.org/drawingml/2006/main">
            <a:off x="685800" y="5391150"/>
            <a:ext cx="447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575" b="0">
                <a:solidFill>
                  <a:srgbClr val="D7E8F7"/>
                </a:solidFill>
                <a:latin typeface="Aptos"/>
                <a:ea typeface="Aptos"/>
                <a:cs typeface="Aptos"/>
              </a:defRPr>
            </a:pPr>
            <a:r>
              <a:rPr sz="1575" b="0">
                <a:solidFill>
                  <a:srgbClr val="D7E8F7"/>
                </a:solidFill>
                <a:latin typeface="Aptos"/>
                <a:ea typeface="Aptos"/>
                <a:cs typeface="Aptos"/>
              </a:rPr>
              <a:t>Máquinas virtuais, contêineres e ambientes para programação ficam disponíveis com poucos passos.</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6568ce4476b145b8"/>
          <a:stretch xmlns:a="http://schemas.openxmlformats.org/drawingml/2006/main"/>
        </p:blipFill>
        <p:spPr>
          <a:xfrm xmlns:a="http://schemas.openxmlformats.org/drawingml/2006/main">
            <a:off x="5810250" y="1776117"/>
            <a:ext cx="5695950" cy="3972516"/>
          </a:xfrm>
          <a:prstGeom xmlns:a="http://schemas.openxmlformats.org/drawingml/2006/main" prst="roundRect">
            <a:avLst>
              <a:gd name="adj" fmla="val 3404"/>
            </a:avLst>
          </a:prstGeom>
        </p:spPr>
      </p:pic>
      <p:sp>
        <p:nvSpPr>
          <p:cNvPr id="10" name="">
            <a:extLst xmlns:a="http://schemas.openxmlformats.org/drawingml/2006/main">
              <a:ext uri="{FF2B5EF4-FFF2-40B4-BE49-F238E27FC236}">
                <a16:creationId xmlns:a16="http://schemas.microsoft.com/office/drawing/2014/main" id="{0182041C-B5AC-4544-85A0-FBA843FF6912}"/>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06</a:t>
            </a:r>
          </a:p>
        </p:txBody>
      </p:sp>
    </p:spTree>
    <p:extLst>
      <p:ext uri="{BB962C8B-B14F-4D97-AF65-F5344CB8AC3E}">
        <p14:creationId xmlns:p14="http://schemas.microsoft.com/office/powerpoint/2010/main" val="951850955"/>
      </p:ext>
    </p:extLst>
  </p:cSld>
</p:sld>
</file>

<file path=ppt/slides/slide7.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49E2A33B-9426-48CF-B2FD-C7A386D8F2E7}"/>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CASOS DE USO</a:t>
            </a:r>
          </a:p>
        </p:txBody>
      </p:sp>
      <p:sp>
        <p:nvSpPr>
          <p:cNvPr id="2" name="">
            <a:extLst xmlns:a="http://schemas.openxmlformats.org/drawingml/2006/main">
              <a:ext uri="{FF2B5EF4-FFF2-40B4-BE49-F238E27FC236}">
                <a16:creationId xmlns:a16="http://schemas.microsoft.com/office/drawing/2014/main" id="{D6727924-2B9A-42C7-8476-8AC0CBFB5B6F}"/>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Onde o Fedora se destaca</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9a2cb3f019b54347"/>
          <a:stretch xmlns:a="http://schemas.openxmlformats.org/drawingml/2006/main"/>
        </p:blipFill>
        <p:spPr>
          <a:xfrm xmlns:a="http://schemas.openxmlformats.org/drawingml/2006/main">
            <a:off x="1131318" y="1524000"/>
            <a:ext cx="4681090" cy="4381500"/>
          </a:xfrm>
          <a:prstGeom xmlns:a="http://schemas.openxmlformats.org/drawingml/2006/main" prst="roundRect">
            <a:avLst>
              <a:gd name="adj" fmla="val 3478"/>
            </a:avLst>
          </a:prstGeom>
        </p:spPr>
      </p:pic>
      <p:sp>
        <p:nvSpPr>
          <p:cNvPr id="4" name="">
            <a:extLst xmlns:a="http://schemas.openxmlformats.org/drawingml/2006/main">
              <a:ext uri="{FF2B5EF4-FFF2-40B4-BE49-F238E27FC236}">
                <a16:creationId xmlns:a16="http://schemas.microsoft.com/office/drawing/2014/main" id="{855FCF76-14D1-4F6E-9D94-17A082B1FD12}"/>
              </a:ext>
            </a:extLst>
          </p:cNvPr>
          <p:cNvSpPr>
            <a:spLocks xmlns:a="http://schemas.openxmlformats.org/drawingml/2006/main" noGrp="1"/>
          </p:cNvSpPr>
          <p:nvPr/>
        </p:nvSpPr>
        <p:spPr>
          <a:xfrm xmlns:a="http://schemas.openxmlformats.org/drawingml/2006/main">
            <a:off x="6858000" y="16192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lnSpc>
                <a:spcPct val="105000"/>
              </a:lnSpc>
              <a:buNone/>
              <a:defRPr sz="2250" b="1">
                <a:solidFill>
                  <a:srgbClr val="51A2DA"/>
                </a:solidFill>
                <a:latin typeface="Aptos"/>
                <a:ea typeface="Aptos"/>
                <a:cs typeface="Aptos"/>
              </a:defRPr>
            </a:pPr>
            <a:r>
              <a:rPr sz="2250" b="1">
                <a:solidFill>
                  <a:srgbClr val="51A2DA"/>
                </a:solidFill>
                <a:latin typeface="Aptos"/>
                <a:ea typeface="Aptos"/>
                <a:cs typeface="Aptos"/>
              </a:rPr>
              <a:t>Desenvolvimento</a:t>
            </a:r>
          </a:p>
        </p:txBody>
      </p:sp>
      <p:sp>
        <p:nvSpPr>
          <p:cNvPr id="5" name="">
            <a:extLst xmlns:a="http://schemas.openxmlformats.org/drawingml/2006/main">
              <a:ext uri="{FF2B5EF4-FFF2-40B4-BE49-F238E27FC236}">
                <a16:creationId xmlns:a16="http://schemas.microsoft.com/office/drawing/2014/main" id="{CDCD5115-F8E3-47CF-8305-7F1CDDD8D412}"/>
              </a:ext>
            </a:extLst>
          </p:cNvPr>
          <p:cNvSpPr>
            <a:spLocks xmlns:a="http://schemas.openxmlformats.org/drawingml/2006/main" noGrp="1"/>
          </p:cNvSpPr>
          <p:nvPr/>
        </p:nvSpPr>
        <p:spPr>
          <a:xfrm xmlns:a="http://schemas.openxmlformats.org/drawingml/2006/main">
            <a:off x="6858000" y="213360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9086"/>
          </a:bodyPr>
          <a:lstStyle xmlns:a="http://schemas.openxmlformats.org/drawingml/2006/main"/>
          <a:p xmlns:a="http://schemas.openxmlformats.org/drawingml/2006/main">
            <a:pPr algn="l">
              <a:lnSpc>
                <a:spcPct val="105000"/>
              </a:lnSpc>
              <a:buNone/>
              <a:defRPr sz="1650" b="0">
                <a:solidFill>
                  <a:srgbClr val="D7E8F7"/>
                </a:solidFill>
                <a:latin typeface="Aptos"/>
                <a:ea typeface="Aptos"/>
                <a:cs typeface="Aptos"/>
              </a:defRPr>
            </a:pPr>
            <a:r>
              <a:rPr sz="1650" b="0">
                <a:solidFill>
                  <a:srgbClr val="D7E8F7"/>
                </a:solidFill>
                <a:latin typeface="Aptos"/>
                <a:ea typeface="Aptos"/>
                <a:cs typeface="Aptos"/>
              </a:rPr>
              <a:t>Linguagens, compiladores e contêineres recentes ajudam em projetos locais e aplicações para nuvem.</a:t>
            </a:r>
          </a:p>
        </p:txBody>
      </p:sp>
      <p:sp>
        <p:nvSpPr>
          <p:cNvPr id="6" name="">
            <a:extLst xmlns:a="http://schemas.openxmlformats.org/drawingml/2006/main">
              <a:ext uri="{FF2B5EF4-FFF2-40B4-BE49-F238E27FC236}">
                <a16:creationId xmlns:a16="http://schemas.microsoft.com/office/drawing/2014/main" id="{6347A0C6-2CFA-4BC4-865D-44923FEDC2ED}"/>
              </a:ext>
            </a:extLst>
          </p:cNvPr>
          <p:cNvSpPr>
            <a:spLocks xmlns:a="http://schemas.openxmlformats.org/drawingml/2006/main" noGrp="1"/>
          </p:cNvSpPr>
          <p:nvPr/>
        </p:nvSpPr>
        <p:spPr>
          <a:xfrm xmlns:a="http://schemas.openxmlformats.org/drawingml/2006/main">
            <a:off x="6858000" y="33718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lnSpc>
                <a:spcPct val="105000"/>
              </a:lnSpc>
              <a:buNone/>
              <a:defRPr sz="2250" b="1">
                <a:solidFill>
                  <a:srgbClr val="51A2DA"/>
                </a:solidFill>
                <a:latin typeface="Aptos"/>
                <a:ea typeface="Aptos"/>
                <a:cs typeface="Aptos"/>
              </a:defRPr>
            </a:pPr>
            <a:r>
              <a:rPr sz="2250" b="1">
                <a:solidFill>
                  <a:srgbClr val="51A2DA"/>
                </a:solidFill>
                <a:latin typeface="Aptos"/>
                <a:ea typeface="Aptos"/>
                <a:cs typeface="Aptos"/>
              </a:rPr>
              <a:t>Estudo e laboratórios</a:t>
            </a:r>
          </a:p>
        </p:txBody>
      </p:sp>
      <p:sp>
        <p:nvSpPr>
          <p:cNvPr id="7" name="">
            <a:extLst xmlns:a="http://schemas.openxmlformats.org/drawingml/2006/main">
              <a:ext uri="{FF2B5EF4-FFF2-40B4-BE49-F238E27FC236}">
                <a16:creationId xmlns:a16="http://schemas.microsoft.com/office/drawing/2014/main" id="{EB308DD0-E445-483F-80FE-6C0A546E2B28}"/>
              </a:ext>
            </a:extLst>
          </p:cNvPr>
          <p:cNvSpPr>
            <a:spLocks xmlns:a="http://schemas.openxmlformats.org/drawingml/2006/main" noGrp="1"/>
          </p:cNvSpPr>
          <p:nvPr/>
        </p:nvSpPr>
        <p:spPr>
          <a:xfrm xmlns:a="http://schemas.openxmlformats.org/drawingml/2006/main">
            <a:off x="6858000" y="3886200"/>
            <a:ext cx="4381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650" b="0">
                <a:solidFill>
                  <a:srgbClr val="D7E8F7"/>
                </a:solidFill>
                <a:latin typeface="Aptos"/>
                <a:ea typeface="Aptos"/>
                <a:cs typeface="Aptos"/>
              </a:defRPr>
            </a:pPr>
            <a:r>
              <a:rPr sz="1650" b="0">
                <a:solidFill>
                  <a:srgbClr val="D7E8F7"/>
                </a:solidFill>
                <a:latin typeface="Aptos"/>
                <a:ea typeface="Aptos"/>
                <a:cs typeface="Aptos"/>
              </a:rPr>
              <a:t>A virtualização permite testar Linux, redes e administração sem substituir o sistema principal.</a:t>
            </a:r>
          </a:p>
        </p:txBody>
      </p:sp>
      <p:sp>
        <p:nvSpPr>
          <p:cNvPr id="8" name="">
            <a:extLst xmlns:a="http://schemas.openxmlformats.org/drawingml/2006/main">
              <a:ext uri="{FF2B5EF4-FFF2-40B4-BE49-F238E27FC236}">
                <a16:creationId xmlns:a16="http://schemas.microsoft.com/office/drawing/2014/main" id="{921A9DBB-23CE-4C70-8DA2-C6C032396546}"/>
              </a:ext>
            </a:extLst>
          </p:cNvPr>
          <p:cNvSpPr>
            <a:spLocks xmlns:a="http://schemas.openxmlformats.org/drawingml/2006/main" noGrp="1"/>
          </p:cNvSpPr>
          <p:nvPr/>
        </p:nvSpPr>
        <p:spPr>
          <a:xfrm xmlns:a="http://schemas.openxmlformats.org/drawingml/2006/main">
            <a:off x="6858000" y="5124450"/>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714"/>
          </a:bodyPr>
          <a:lstStyle xmlns:a="http://schemas.openxmlformats.org/drawingml/2006/main"/>
          <a:p xmlns:a="http://schemas.openxmlformats.org/drawingml/2006/main">
            <a:pPr algn="l">
              <a:lnSpc>
                <a:spcPct val="105000"/>
              </a:lnSpc>
              <a:buNone/>
              <a:defRPr sz="2250" b="1">
                <a:solidFill>
                  <a:srgbClr val="51A2DA"/>
                </a:solidFill>
                <a:latin typeface="Aptos"/>
                <a:ea typeface="Aptos"/>
                <a:cs typeface="Aptos"/>
              </a:defRPr>
            </a:pPr>
            <a:r>
              <a:rPr sz="2250" b="1">
                <a:solidFill>
                  <a:srgbClr val="51A2DA"/>
                </a:solidFill>
                <a:latin typeface="Aptos"/>
                <a:ea typeface="Aptos"/>
                <a:cs typeface="Aptos"/>
              </a:rPr>
              <a:t>Servidores e nuvem</a:t>
            </a:r>
          </a:p>
        </p:txBody>
      </p:sp>
      <p:sp>
        <p:nvSpPr>
          <p:cNvPr id="9" name="">
            <a:extLst xmlns:a="http://schemas.openxmlformats.org/drawingml/2006/main">
              <a:ext uri="{FF2B5EF4-FFF2-40B4-BE49-F238E27FC236}">
                <a16:creationId xmlns:a16="http://schemas.microsoft.com/office/drawing/2014/main" id="{6BAD3E8D-36E1-4984-BE56-EA790194EA94}"/>
              </a:ext>
            </a:extLst>
          </p:cNvPr>
          <p:cNvSpPr>
            <a:spLocks xmlns:a="http://schemas.openxmlformats.org/drawingml/2006/main" noGrp="1"/>
          </p:cNvSpPr>
          <p:nvPr/>
        </p:nvSpPr>
        <p:spPr>
          <a:xfrm xmlns:a="http://schemas.openxmlformats.org/drawingml/2006/main">
            <a:off x="6858000" y="5619750"/>
            <a:ext cx="438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238"/>
          </a:bodyPr>
          <a:lstStyle xmlns:a="http://schemas.openxmlformats.org/drawingml/2006/main"/>
          <a:p xmlns:a="http://schemas.openxmlformats.org/drawingml/2006/main">
            <a:pPr algn="l">
              <a:lnSpc>
                <a:spcPct val="105000"/>
              </a:lnSpc>
              <a:buNone/>
              <a:defRPr sz="1575" b="0">
                <a:solidFill>
                  <a:srgbClr val="D7E8F7"/>
                </a:solidFill>
                <a:latin typeface="Aptos"/>
                <a:ea typeface="Aptos"/>
                <a:cs typeface="Aptos"/>
              </a:defRPr>
            </a:pPr>
            <a:r>
              <a:rPr sz="1575" b="0">
                <a:solidFill>
                  <a:srgbClr val="D7E8F7"/>
                </a:solidFill>
                <a:latin typeface="Aptos"/>
                <a:ea typeface="Aptos"/>
                <a:cs typeface="Aptos"/>
              </a:rPr>
              <a:t>Edições específicas atendem serviços, imagens de nuvem e cargas baseadas em contêineres.</a:t>
            </a:r>
          </a:p>
        </p:txBody>
      </p:sp>
      <p:sp>
        <p:nvSpPr>
          <p:cNvPr id="10" name="">
            <a:extLst xmlns:a="http://schemas.openxmlformats.org/drawingml/2006/main">
              <a:ext uri="{FF2B5EF4-FFF2-40B4-BE49-F238E27FC236}">
                <a16:creationId xmlns:a16="http://schemas.microsoft.com/office/drawing/2014/main" id="{632E1C2B-BA6D-44D6-8D2F-9B02EC2D4E2E}"/>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07</a:t>
            </a:r>
          </a:p>
        </p:txBody>
      </p:sp>
    </p:spTree>
    <p:extLst>
      <p:ext uri="{BB962C8B-B14F-4D97-AF65-F5344CB8AC3E}">
        <p14:creationId xmlns:p14="http://schemas.microsoft.com/office/powerpoint/2010/main" val="718590073"/>
      </p:ext>
    </p:extLst>
  </p:cSld>
</p:sld>
</file>

<file path=ppt/slides/slide8.xml><?xml version="1.0" encoding="utf-8"?>
<p:sld xmlns:p="http://schemas.openxmlformats.org/presentationml/2006/main">
  <p:cSld>
    <p:bg>
      <p:bgPr>
        <a:solidFill xmlns:a="http://schemas.openxmlformats.org/drawingml/2006/main">
          <a:srgbClr val="121A2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B3B19FB-DF97-4349-893E-38630E1BE924}"/>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AVALIAÇÃO EQUILIBRADA</a:t>
            </a:r>
          </a:p>
        </p:txBody>
      </p:sp>
      <p:sp>
        <p:nvSpPr>
          <p:cNvPr id="2" name="">
            <a:extLst xmlns:a="http://schemas.openxmlformats.org/drawingml/2006/main">
              <a:ext uri="{FF2B5EF4-FFF2-40B4-BE49-F238E27FC236}">
                <a16:creationId xmlns:a16="http://schemas.microsoft.com/office/drawing/2014/main" id="{E7BCAEE2-2858-419E-A6CC-2BF0C2816F7D}"/>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Vantagens e limitações</a:t>
            </a:r>
          </a:p>
        </p:txBody>
      </p:sp>
      <p:sp>
        <p:nvSpPr>
          <p:cNvPr id="3" name="">
            <a:extLst xmlns:a="http://schemas.openxmlformats.org/drawingml/2006/main">
              <a:ext uri="{FF2B5EF4-FFF2-40B4-BE49-F238E27FC236}">
                <a16:creationId xmlns:a16="http://schemas.microsoft.com/office/drawing/2014/main" id="{4B093B51-86B7-41A2-AA98-E4DD6A0DEA0E}"/>
              </a:ext>
            </a:extLst>
          </p:cNvPr>
          <p:cNvSpPr>
            <a:spLocks xmlns:a="http://schemas.openxmlformats.org/drawingml/2006/main" noGrp="1"/>
          </p:cNvSpPr>
          <p:nvPr/>
        </p:nvSpPr>
        <p:spPr>
          <a:xfrm xmlns:a="http://schemas.openxmlformats.org/drawingml/2006/main">
            <a:off x="685800" y="17145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200" b="1">
                <a:solidFill>
                  <a:srgbClr val="51A2DA"/>
                </a:solidFill>
                <a:latin typeface="Aptos"/>
                <a:ea typeface="Aptos"/>
                <a:cs typeface="Aptos"/>
              </a:defRPr>
            </a:pPr>
            <a:r>
              <a:rPr sz="1200" b="1">
                <a:solidFill>
                  <a:srgbClr val="51A2DA"/>
                </a:solidFill>
                <a:latin typeface="Aptos"/>
                <a:ea typeface="Aptos"/>
                <a:cs typeface="Aptos"/>
              </a:rPr>
              <a:t>VANTAGENS</a:t>
            </a:r>
          </a:p>
        </p:txBody>
      </p:sp>
      <p:sp>
        <p:nvSpPr>
          <p:cNvPr id="4" name="">
            <a:extLst xmlns:a="http://schemas.openxmlformats.org/drawingml/2006/main">
              <a:ext uri="{FF2B5EF4-FFF2-40B4-BE49-F238E27FC236}">
                <a16:creationId xmlns:a16="http://schemas.microsoft.com/office/drawing/2014/main" id="{460B6ED6-09E8-48F4-A4B9-4C208BD9E523}"/>
              </a:ext>
            </a:extLst>
          </p:cNvPr>
          <p:cNvSpPr>
            <a:spLocks xmlns:a="http://schemas.openxmlformats.org/drawingml/2006/main" noGrp="1"/>
          </p:cNvSpPr>
          <p:nvPr/>
        </p:nvSpPr>
        <p:spPr>
          <a:xfrm xmlns:a="http://schemas.openxmlformats.org/drawingml/2006/main">
            <a:off x="685800" y="2190750"/>
            <a:ext cx="4476750" cy="2952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35000"/>
              </a:lnSpc>
              <a:buNone/>
              <a:defRPr sz="1875" b="0">
                <a:solidFill>
                  <a:srgbClr val="F7FAFC"/>
                </a:solidFill>
                <a:latin typeface="Aptos"/>
                <a:ea typeface="Aptos"/>
                <a:cs typeface="Aptos"/>
              </a:defRPr>
            </a:pPr>
            <a:r>
              <a:rPr sz="1875" b="0">
                <a:solidFill>
                  <a:srgbClr val="F7FAFC"/>
                </a:solidFill>
                <a:latin typeface="Aptos"/>
                <a:ea typeface="Aptos"/>
                <a:cs typeface="Aptos"/>
              </a:rPr>
              <a:t>Software livre e sem anúncios</a:t>
            </a:r>
          </a:p>
          <a:p xmlns:a="http://schemas.openxmlformats.org/drawingml/2006/main">
            <a:pPr algn="l">
              <a:lnSpc>
                <a:spcPct val="135000"/>
              </a:lnSpc>
              <a:buNone/>
              <a:defRPr sz="1875" b="0">
                <a:solidFill>
                  <a:srgbClr val="F7FAFC"/>
                </a:solidFill>
                <a:latin typeface="Aptos"/>
                <a:ea typeface="Aptos"/>
                <a:cs typeface="Aptos"/>
              </a:defRPr>
            </a:pPr>
            <a:r>
              <a:rPr sz="1875" b="0">
                <a:solidFill>
                  <a:srgbClr val="F7FAFC"/>
                </a:solidFill>
                <a:latin typeface="Aptos"/>
                <a:ea typeface="Aptos"/>
                <a:cs typeface="Aptos"/>
              </a:rPr>
              <a:t>Tecnologias atuais</a:t>
            </a:r>
          </a:p>
          <a:p xmlns:a="http://schemas.openxmlformats.org/drawingml/2006/main">
            <a:pPr algn="l">
              <a:lnSpc>
                <a:spcPct val="135000"/>
              </a:lnSpc>
              <a:buNone/>
              <a:defRPr sz="1875" b="0">
                <a:solidFill>
                  <a:srgbClr val="F7FAFC"/>
                </a:solidFill>
                <a:latin typeface="Aptos"/>
                <a:ea typeface="Aptos"/>
                <a:cs typeface="Aptos"/>
              </a:defRPr>
            </a:pPr>
            <a:r>
              <a:rPr sz="1875" b="0">
                <a:solidFill>
                  <a:srgbClr val="F7FAFC"/>
                </a:solidFill>
                <a:latin typeface="Aptos"/>
                <a:ea typeface="Aptos"/>
                <a:cs typeface="Aptos"/>
              </a:rPr>
              <a:t>Boa experiência para desenvolvimento</a:t>
            </a:r>
          </a:p>
          <a:p xmlns:a="http://schemas.openxmlformats.org/drawingml/2006/main">
            <a:pPr algn="l">
              <a:lnSpc>
                <a:spcPct val="135000"/>
              </a:lnSpc>
              <a:buNone/>
              <a:defRPr sz="1875" b="0">
                <a:solidFill>
                  <a:srgbClr val="F7FAFC"/>
                </a:solidFill>
                <a:latin typeface="Aptos"/>
                <a:ea typeface="Aptos"/>
                <a:cs typeface="Aptos"/>
              </a:defRPr>
            </a:pPr>
            <a:r>
              <a:rPr sz="1875" b="0">
                <a:solidFill>
                  <a:srgbClr val="F7FAFC"/>
                </a:solidFill>
                <a:latin typeface="Aptos"/>
                <a:ea typeface="Aptos"/>
                <a:cs typeface="Aptos"/>
              </a:rPr>
              <a:t>Comunidade ativa e documentação</a:t>
            </a:r>
          </a:p>
          <a:p xmlns:a="http://schemas.openxmlformats.org/drawingml/2006/main">
            <a:pPr algn="l">
              <a:lnSpc>
                <a:spcPct val="135000"/>
              </a:lnSpc>
              <a:buNone/>
              <a:defRPr sz="1875" b="0">
                <a:solidFill>
                  <a:srgbClr val="F7FAFC"/>
                </a:solidFill>
                <a:latin typeface="Aptos"/>
                <a:ea typeface="Aptos"/>
                <a:cs typeface="Aptos"/>
              </a:defRPr>
            </a:pPr>
            <a:r>
              <a:rPr sz="1875" b="0">
                <a:solidFill>
                  <a:srgbClr val="F7FAFC"/>
                </a:solidFill>
                <a:latin typeface="Aptos"/>
                <a:ea typeface="Aptos"/>
                <a:cs typeface="Aptos"/>
              </a:rPr>
              <a:t>Segurança integrada</a:t>
            </a:r>
          </a:p>
        </p:txBody>
      </p:sp>
      <p:sp>
        <p:nvSpPr>
          <p:cNvPr id="5" name="">
            <a:extLst xmlns:a="http://schemas.openxmlformats.org/drawingml/2006/main">
              <a:ext uri="{FF2B5EF4-FFF2-40B4-BE49-F238E27FC236}">
                <a16:creationId xmlns:a16="http://schemas.microsoft.com/office/drawing/2014/main" id="{0B02706D-895C-456C-96A5-4F8D9FE0E365}"/>
              </a:ext>
            </a:extLst>
          </p:cNvPr>
          <p:cNvSpPr>
            <a:spLocks xmlns:a="http://schemas.openxmlformats.org/drawingml/2006/main" noGrp="1"/>
          </p:cNvSpPr>
          <p:nvPr/>
        </p:nvSpPr>
        <p:spPr>
          <a:xfrm xmlns:a="http://schemas.openxmlformats.org/drawingml/2006/main">
            <a:off x="5905500" y="1714500"/>
            <a:ext cx="428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200" b="1">
                <a:solidFill>
                  <a:srgbClr val="F4B860"/>
                </a:solidFill>
                <a:latin typeface="Aptos"/>
                <a:ea typeface="Aptos"/>
                <a:cs typeface="Aptos"/>
              </a:defRPr>
            </a:pPr>
            <a:r>
              <a:rPr sz="1200" b="1">
                <a:solidFill>
                  <a:srgbClr val="F4B860"/>
                </a:solidFill>
                <a:latin typeface="Aptos"/>
                <a:ea typeface="Aptos"/>
                <a:cs typeface="Aptos"/>
              </a:rPr>
              <a:t>LIMITAÇÕES</a:t>
            </a:r>
          </a:p>
        </p:txBody>
      </p:sp>
      <p:sp>
        <p:nvSpPr>
          <p:cNvPr id="6" name="">
            <a:extLst xmlns:a="http://schemas.openxmlformats.org/drawingml/2006/main">
              <a:ext uri="{FF2B5EF4-FFF2-40B4-BE49-F238E27FC236}">
                <a16:creationId xmlns:a16="http://schemas.microsoft.com/office/drawing/2014/main" id="{15F1B19C-7B87-4A38-AA72-F932A0FE6A9A}"/>
              </a:ext>
            </a:extLst>
          </p:cNvPr>
          <p:cNvSpPr>
            <a:spLocks xmlns:a="http://schemas.openxmlformats.org/drawingml/2006/main" noGrp="1"/>
          </p:cNvSpPr>
          <p:nvPr/>
        </p:nvSpPr>
        <p:spPr>
          <a:xfrm xmlns:a="http://schemas.openxmlformats.org/drawingml/2006/main">
            <a:off x="5905500" y="2190750"/>
            <a:ext cx="5619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30000"/>
              </a:lnSpc>
              <a:buNone/>
              <a:defRPr sz="1875" b="0">
                <a:solidFill>
                  <a:srgbClr val="F7FAFC"/>
                </a:solidFill>
                <a:latin typeface="Aptos"/>
                <a:ea typeface="Aptos"/>
                <a:cs typeface="Aptos"/>
              </a:defRPr>
            </a:pPr>
            <a:r>
              <a:rPr sz="1875" b="0">
                <a:solidFill>
                  <a:srgbClr val="F7FAFC"/>
                </a:solidFill>
                <a:latin typeface="Aptos"/>
                <a:ea typeface="Aptos"/>
                <a:cs typeface="Aptos"/>
              </a:rPr>
              <a:t>Ciclo de suporte de cerca de 13 meses</a:t>
            </a:r>
          </a:p>
          <a:p xmlns:a="http://schemas.openxmlformats.org/drawingml/2006/main">
            <a:pPr algn="l">
              <a:lnSpc>
                <a:spcPct val="130000"/>
              </a:lnSpc>
              <a:buNone/>
              <a:defRPr sz="1875" b="0">
                <a:solidFill>
                  <a:srgbClr val="F7FAFC"/>
                </a:solidFill>
                <a:latin typeface="Aptos"/>
                <a:ea typeface="Aptos"/>
                <a:cs typeface="Aptos"/>
              </a:defRPr>
            </a:pPr>
            <a:r>
              <a:rPr sz="1875" b="0">
                <a:solidFill>
                  <a:srgbClr val="F7FAFC"/>
                </a:solidFill>
                <a:latin typeface="Aptos"/>
                <a:ea typeface="Aptos"/>
                <a:cs typeface="Aptos"/>
              </a:rPr>
              <a:t>Atualizações mais frequentes</a:t>
            </a:r>
          </a:p>
          <a:p xmlns:a="http://schemas.openxmlformats.org/drawingml/2006/main">
            <a:pPr algn="l">
              <a:lnSpc>
                <a:spcPct val="130000"/>
              </a:lnSpc>
              <a:buNone/>
              <a:defRPr sz="1875" b="0">
                <a:solidFill>
                  <a:srgbClr val="F7FAFC"/>
                </a:solidFill>
                <a:latin typeface="Aptos"/>
                <a:ea typeface="Aptos"/>
                <a:cs typeface="Aptos"/>
              </a:defRPr>
            </a:pPr>
            <a:r>
              <a:rPr sz="1875" b="0">
                <a:solidFill>
                  <a:srgbClr val="F7FAFC"/>
                </a:solidFill>
                <a:latin typeface="Aptos"/>
                <a:ea typeface="Aptos"/>
                <a:cs typeface="Aptos"/>
              </a:rPr>
              <a:t>Alguns drivers e codecs exigem etapas extras</a:t>
            </a:r>
          </a:p>
          <a:p xmlns:a="http://schemas.openxmlformats.org/drawingml/2006/main">
            <a:pPr algn="l">
              <a:lnSpc>
                <a:spcPct val="130000"/>
              </a:lnSpc>
              <a:buNone/>
              <a:defRPr sz="1875" b="0">
                <a:solidFill>
                  <a:srgbClr val="F7FAFC"/>
                </a:solidFill>
                <a:latin typeface="Aptos"/>
                <a:ea typeface="Aptos"/>
                <a:cs typeface="Aptos"/>
              </a:defRPr>
            </a:pPr>
            <a:r>
              <a:rPr sz="1875" b="0">
                <a:solidFill>
                  <a:srgbClr val="F7FAFC"/>
                </a:solidFill>
                <a:latin typeface="Aptos"/>
                <a:ea typeface="Aptos"/>
                <a:cs typeface="Aptos"/>
              </a:rPr>
              <a:t>Programas exclusivos de outros sistemas podem não existir</a:t>
            </a:r>
          </a:p>
          <a:p xmlns:a="http://schemas.openxmlformats.org/drawingml/2006/main">
            <a:pPr algn="l">
              <a:lnSpc>
                <a:spcPct val="130000"/>
              </a:lnSpc>
              <a:buNone/>
              <a:defRPr sz="1875" b="0">
                <a:solidFill>
                  <a:srgbClr val="F7FAFC"/>
                </a:solidFill>
                <a:latin typeface="Aptos"/>
                <a:ea typeface="Aptos"/>
                <a:cs typeface="Aptos"/>
              </a:defRPr>
            </a:pPr>
            <a:r>
              <a:rPr sz="1875" b="0">
                <a:solidFill>
                  <a:srgbClr val="F7FAFC"/>
                </a:solidFill>
                <a:latin typeface="Aptos"/>
                <a:ea typeface="Aptos"/>
                <a:cs typeface="Aptos"/>
              </a:rPr>
              <a:t>Mudanças recentes podem exigir adaptação</a:t>
            </a:r>
          </a:p>
        </p:txBody>
      </p:sp>
      <p:sp>
        <p:nvSpPr>
          <p:cNvPr id="7" name="">
            <a:extLst xmlns:a="http://schemas.openxmlformats.org/drawingml/2006/main">
              <a:ext uri="{FF2B5EF4-FFF2-40B4-BE49-F238E27FC236}">
                <a16:creationId xmlns:a16="http://schemas.microsoft.com/office/drawing/2014/main" id="{16F5C439-2571-45C8-BC1D-A18506A4B2AD}"/>
              </a:ext>
            </a:extLst>
          </p:cNvPr>
          <p:cNvSpPr>
            <a:spLocks xmlns:a="http://schemas.openxmlformats.org/drawingml/2006/main" noGrp="1"/>
          </p:cNvSpPr>
          <p:nvPr/>
        </p:nvSpPr>
        <p:spPr>
          <a:xfrm xmlns:a="http://schemas.openxmlformats.org/drawingml/2006/main">
            <a:off x="685800" y="5676900"/>
            <a:ext cx="1000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1725" b="0">
                <a:solidFill>
                  <a:srgbClr val="D7E8F7"/>
                </a:solidFill>
                <a:latin typeface="Aptos"/>
                <a:ea typeface="Aptos"/>
                <a:cs typeface="Aptos"/>
              </a:defRPr>
            </a:pPr>
            <a:r>
              <a:rPr sz="1725" b="0">
                <a:solidFill>
                  <a:srgbClr val="D7E8F7"/>
                </a:solidFill>
                <a:latin typeface="Aptos"/>
                <a:ea typeface="Aptos"/>
                <a:cs typeface="Aptos"/>
              </a:rPr>
              <a:t>A escolha depende do equilíbrio entre novidade, compatibilidade e manutenção.</a:t>
            </a:r>
          </a:p>
        </p:txBody>
      </p:sp>
      <p:sp>
        <p:nvSpPr>
          <p:cNvPr id="8" name="">
            <a:extLst xmlns:a="http://schemas.openxmlformats.org/drawingml/2006/main">
              <a:ext uri="{FF2B5EF4-FFF2-40B4-BE49-F238E27FC236}">
                <a16:creationId xmlns:a16="http://schemas.microsoft.com/office/drawing/2014/main" id="{67ED7C3B-0310-4C4F-9FA1-CC3236CA7514}"/>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08</a:t>
            </a:r>
          </a:p>
        </p:txBody>
      </p:sp>
    </p:spTree>
    <p:extLst>
      <p:ext uri="{BB962C8B-B14F-4D97-AF65-F5344CB8AC3E}">
        <p14:creationId xmlns:p14="http://schemas.microsoft.com/office/powerpoint/2010/main" val="1124233378"/>
      </p:ext>
    </p:extLst>
  </p:cSld>
</p:sld>
</file>

<file path=ppt/slides/slide9.xml><?xml version="1.0" encoding="utf-8"?>
<p:sld xmlns:p="http://schemas.openxmlformats.org/presentationml/2006/main">
  <p:cSld>
    <p:bg>
      <p:bgPr>
        <a:solidFill xmlns:a="http://schemas.openxmlformats.org/drawingml/2006/main">
          <a:srgbClr val="0B102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177CE77-0E41-4AF6-A1DE-4CEBE362481D}"/>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FEDORA 44 NO VIRTUALBOX</a:t>
            </a:r>
          </a:p>
        </p:txBody>
      </p:sp>
      <p:sp>
        <p:nvSpPr>
          <p:cNvPr id="2" name="">
            <a:extLst xmlns:a="http://schemas.openxmlformats.org/drawingml/2006/main">
              <a:ext uri="{FF2B5EF4-FFF2-40B4-BE49-F238E27FC236}">
                <a16:creationId xmlns:a16="http://schemas.microsoft.com/office/drawing/2014/main" id="{4E8E6363-8E34-4429-A43D-5188D28C9784}"/>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Demonstração virtualizada</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f447a4d48ca348df"/>
          <a:stretch xmlns:a="http://schemas.openxmlformats.org/drawingml/2006/main"/>
        </p:blipFill>
        <p:spPr>
          <a:xfrm xmlns:a="http://schemas.openxmlformats.org/drawingml/2006/main">
            <a:off x="1028700" y="1504950"/>
            <a:ext cx="6553200" cy="4095750"/>
          </a:xfrm>
          <a:prstGeom xmlns:a="http://schemas.openxmlformats.org/drawingml/2006/main" prst="roundRect">
            <a:avLst>
              <a:gd name="adj" fmla="val 3721"/>
            </a:avLst>
          </a:prstGeom>
        </p:spPr>
      </p:pic>
      <p:sp>
        <p:nvSpPr>
          <p:cNvPr id="4" name="">
            <a:extLst xmlns:a="http://schemas.openxmlformats.org/drawingml/2006/main">
              <a:ext uri="{FF2B5EF4-FFF2-40B4-BE49-F238E27FC236}">
                <a16:creationId xmlns:a16="http://schemas.microsoft.com/office/drawing/2014/main" id="{1ECD5A26-15F4-4470-9D27-4FCED5A39BB8}"/>
              </a:ext>
            </a:extLst>
          </p:cNvPr>
          <p:cNvSpPr>
            <a:spLocks xmlns:a="http://schemas.openxmlformats.org/drawingml/2006/main" noGrp="1"/>
          </p:cNvSpPr>
          <p:nvPr/>
        </p:nvSpPr>
        <p:spPr>
          <a:xfrm xmlns:a="http://schemas.openxmlformats.org/drawingml/2006/main">
            <a:off x="8420100" y="1676400"/>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9359"/>
          </a:bodyPr>
          <a:lstStyle xmlns:a="http://schemas.openxmlformats.org/drawingml/2006/main"/>
          <a:p xmlns:a="http://schemas.openxmlformats.org/drawingml/2006/main">
            <a:pPr algn="l">
              <a:lnSpc>
                <a:spcPct val="105000"/>
              </a:lnSpc>
              <a:buNone/>
              <a:defRPr sz="2025" b="1">
                <a:solidFill>
                  <a:srgbClr val="51A2DA"/>
                </a:solidFill>
                <a:latin typeface="Aptos"/>
                <a:ea typeface="Aptos"/>
                <a:cs typeface="Aptos"/>
              </a:defRPr>
            </a:pPr>
            <a:r>
              <a:rPr sz="2025" b="1">
                <a:solidFill>
                  <a:srgbClr val="51A2DA"/>
                </a:solidFill>
                <a:latin typeface="Aptos"/>
                <a:ea typeface="Aptos"/>
                <a:cs typeface="Aptos"/>
              </a:rPr>
              <a:t>Configuração usada</a:t>
            </a:r>
          </a:p>
        </p:txBody>
      </p:sp>
      <p:sp>
        <p:nvSpPr>
          <p:cNvPr id="5" name="">
            <a:extLst xmlns:a="http://schemas.openxmlformats.org/drawingml/2006/main">
              <a:ext uri="{FF2B5EF4-FFF2-40B4-BE49-F238E27FC236}">
                <a16:creationId xmlns:a16="http://schemas.microsoft.com/office/drawing/2014/main" id="{0135C5F5-3FF1-4C11-8401-A7E5B72739B4}"/>
              </a:ext>
            </a:extLst>
          </p:cNvPr>
          <p:cNvSpPr>
            <a:spLocks xmlns:a="http://schemas.openxmlformats.org/drawingml/2006/main" noGrp="1"/>
          </p:cNvSpPr>
          <p:nvPr/>
        </p:nvSpPr>
        <p:spPr>
          <a:xfrm xmlns:a="http://schemas.openxmlformats.org/drawingml/2006/main">
            <a:off x="8420100" y="2247900"/>
            <a:ext cx="3048000"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35000"/>
              </a:lnSpc>
              <a:buNone/>
              <a:defRPr sz="1800" b="0">
                <a:solidFill>
                  <a:srgbClr val="D7E8F7"/>
                </a:solidFill>
                <a:latin typeface="Aptos"/>
                <a:ea typeface="Aptos"/>
                <a:cs typeface="Aptos"/>
              </a:defRPr>
            </a:pPr>
            <a:r>
              <a:rPr sz="1800" b="0">
                <a:solidFill>
                  <a:srgbClr val="D7E8F7"/>
                </a:solidFill>
                <a:latin typeface="Aptos"/>
                <a:ea typeface="Aptos"/>
                <a:cs typeface="Aptos"/>
              </a:rPr>
              <a:t>4 núcleos virtuais</a:t>
            </a:r>
          </a:p>
          <a:p xmlns:a="http://schemas.openxmlformats.org/drawingml/2006/main">
            <a:pPr algn="l">
              <a:lnSpc>
                <a:spcPct val="135000"/>
              </a:lnSpc>
              <a:buNone/>
              <a:defRPr sz="1800" b="0">
                <a:solidFill>
                  <a:srgbClr val="D7E8F7"/>
                </a:solidFill>
                <a:latin typeface="Aptos"/>
                <a:ea typeface="Aptos"/>
                <a:cs typeface="Aptos"/>
              </a:defRPr>
            </a:pPr>
            <a:r>
              <a:rPr sz="1800" b="0">
                <a:solidFill>
                  <a:srgbClr val="D7E8F7"/>
                </a:solidFill>
                <a:latin typeface="Aptos"/>
                <a:ea typeface="Aptos"/>
                <a:cs typeface="Aptos"/>
              </a:rPr>
              <a:t>4 GB de memória</a:t>
            </a:r>
          </a:p>
          <a:p xmlns:a="http://schemas.openxmlformats.org/drawingml/2006/main">
            <a:pPr algn="l">
              <a:lnSpc>
                <a:spcPct val="135000"/>
              </a:lnSpc>
              <a:buNone/>
              <a:defRPr sz="1800" b="0">
                <a:solidFill>
                  <a:srgbClr val="D7E8F7"/>
                </a:solidFill>
                <a:latin typeface="Aptos"/>
                <a:ea typeface="Aptos"/>
                <a:cs typeface="Aptos"/>
              </a:defRPr>
            </a:pPr>
            <a:r>
              <a:rPr sz="1800" b="0">
                <a:solidFill>
                  <a:srgbClr val="D7E8F7"/>
                </a:solidFill>
                <a:latin typeface="Aptos"/>
                <a:ea typeface="Aptos"/>
                <a:cs typeface="Aptos"/>
              </a:rPr>
              <a:t>1280 × 720 pixels</a:t>
            </a:r>
          </a:p>
          <a:p xmlns:a="http://schemas.openxmlformats.org/drawingml/2006/main">
            <a:pPr algn="l">
              <a:lnSpc>
                <a:spcPct val="135000"/>
              </a:lnSpc>
              <a:buNone/>
              <a:defRPr sz="1800" b="0">
                <a:solidFill>
                  <a:srgbClr val="D7E8F7"/>
                </a:solidFill>
                <a:latin typeface="Aptos"/>
                <a:ea typeface="Aptos"/>
                <a:cs typeface="Aptos"/>
              </a:defRPr>
            </a:pPr>
            <a:r>
              <a:rPr sz="1800" b="0">
                <a:solidFill>
                  <a:srgbClr val="D7E8F7"/>
                </a:solidFill>
                <a:latin typeface="Aptos"/>
                <a:ea typeface="Aptos"/>
                <a:cs typeface="Aptos"/>
              </a:rPr>
              <a:t>Rede NAT</a:t>
            </a:r>
          </a:p>
          <a:p xmlns:a="http://schemas.openxmlformats.org/drawingml/2006/main">
            <a:pPr algn="l">
              <a:lnSpc>
                <a:spcPct val="135000"/>
              </a:lnSpc>
              <a:buNone/>
              <a:defRPr sz="1800" b="0">
                <a:solidFill>
                  <a:srgbClr val="D7E8F7"/>
                </a:solidFill>
                <a:latin typeface="Aptos"/>
                <a:ea typeface="Aptos"/>
                <a:cs typeface="Aptos"/>
              </a:defRPr>
            </a:pPr>
            <a:r>
              <a:rPr sz="1800" b="0">
                <a:solidFill>
                  <a:srgbClr val="D7E8F7"/>
                </a:solidFill>
                <a:latin typeface="Aptos"/>
                <a:ea typeface="Aptos"/>
                <a:cs typeface="Aptos"/>
              </a:rPr>
              <a:t>Imagem Live oficial</a:t>
            </a:r>
          </a:p>
        </p:txBody>
      </p:sp>
      <p:sp>
        <p:nvSpPr>
          <p:cNvPr id="6" name="">
            <a:extLst xmlns:a="http://schemas.openxmlformats.org/drawingml/2006/main">
              <a:ext uri="{FF2B5EF4-FFF2-40B4-BE49-F238E27FC236}">
                <a16:creationId xmlns:a16="http://schemas.microsoft.com/office/drawing/2014/main" id="{D41FB8BE-4938-46A0-B89C-AB517E6A9BAF}"/>
              </a:ext>
            </a:extLst>
          </p:cNvPr>
          <p:cNvSpPr>
            <a:spLocks xmlns:a="http://schemas.openxmlformats.org/drawingml/2006/main" noGrp="1"/>
          </p:cNvSpPr>
          <p:nvPr/>
        </p:nvSpPr>
        <p:spPr>
          <a:xfrm xmlns:a="http://schemas.openxmlformats.org/drawingml/2006/main">
            <a:off x="8420100" y="4667250"/>
            <a:ext cx="30480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5000"/>
              </a:lnSpc>
              <a:buNone/>
              <a:defRPr sz="1575" b="0">
                <a:solidFill>
                  <a:srgbClr val="F7FAFC"/>
                </a:solidFill>
                <a:latin typeface="Aptos"/>
                <a:ea typeface="Aptos"/>
                <a:cs typeface="Aptos"/>
              </a:defRPr>
            </a:pPr>
            <a:r>
              <a:rPr sz="1575" b="0">
                <a:solidFill>
                  <a:srgbClr val="F7FAFC"/>
                </a:solidFill>
                <a:latin typeface="Aptos"/>
                <a:ea typeface="Aptos"/>
                <a:cs typeface="Aptos"/>
              </a:rPr>
              <a:t>No vídeo: inicialização, GNOME, terminal, versão do sistema, kernel, DNF5 e Configurações.</a:t>
            </a:r>
          </a:p>
        </p:txBody>
      </p:sp>
      <p:sp>
        <p:nvSpPr>
          <p:cNvPr id="7" name="">
            <a:extLst xmlns:a="http://schemas.openxmlformats.org/drawingml/2006/main">
              <a:ext uri="{FF2B5EF4-FFF2-40B4-BE49-F238E27FC236}">
                <a16:creationId xmlns:a16="http://schemas.microsoft.com/office/drawing/2014/main" id="{C09AAF55-8DA9-4248-8A09-6EFC8518D75D}"/>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09</a:t>
            </a:r>
          </a:p>
        </p:txBody>
      </p:sp>
    </p:spTree>
    <p:extLst>
      <p:ext uri="{BB962C8B-B14F-4D97-AF65-F5344CB8AC3E}">
        <p14:creationId xmlns:p14="http://schemas.microsoft.com/office/powerpoint/2010/main" val="2011248187"/>
      </p:ext>
    </p:extLst>
  </p:cSld>
</p:sld>
</file>

<file path=ppt/slides/slide10.xml><?xml version="1.0" encoding="utf-8"?>
<p:sld xmlns:p="http://schemas.openxmlformats.org/presentationml/2006/main">
  <p:cSld>
    <p:bg>
      <p:bgPr>
        <a:solidFill xmlns:a="http://schemas.openxmlformats.org/drawingml/2006/main">
          <a:srgbClr val="121A2E"/>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9F22E61-ABC7-4C3F-B133-812F35DE44A3}"/>
              </a:ext>
            </a:extLst>
          </p:cNvPr>
          <p:cNvSpPr>
            <a:spLocks xmlns:a="http://schemas.openxmlformats.org/drawingml/2006/main" noGrp="1"/>
          </p:cNvSpPr>
          <p:nvPr/>
        </p:nvSpPr>
        <p:spPr>
          <a:xfrm xmlns:a="http://schemas.openxmlformats.org/drawingml/2006/main">
            <a:off x="685800" y="43815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354"/>
          </a:bodyPr>
          <a:lstStyle xmlns:a="http://schemas.openxmlformats.org/drawingml/2006/main"/>
          <a:p xmlns:a="http://schemas.openxmlformats.org/drawingml/2006/main">
            <a:pPr algn="l">
              <a:lnSpc>
                <a:spcPct val="105000"/>
              </a:lnSpc>
              <a:buNone/>
              <a:defRPr sz="1125" b="1">
                <a:solidFill>
                  <a:srgbClr val="51A2DA"/>
                </a:solidFill>
                <a:latin typeface="Aptos"/>
                <a:ea typeface="Aptos"/>
                <a:cs typeface="Aptos"/>
              </a:defRPr>
            </a:pPr>
            <a:r>
              <a:rPr sz="1125" b="1">
                <a:solidFill>
                  <a:srgbClr val="51A2DA"/>
                </a:solidFill>
                <a:latin typeface="Aptos"/>
                <a:ea typeface="Aptos"/>
                <a:cs typeface="Aptos"/>
              </a:rPr>
              <a:t>SÍNTESE</a:t>
            </a:r>
          </a:p>
        </p:txBody>
      </p:sp>
      <p:sp>
        <p:nvSpPr>
          <p:cNvPr id="2" name="">
            <a:extLst xmlns:a="http://schemas.openxmlformats.org/drawingml/2006/main">
              <a:ext uri="{FF2B5EF4-FFF2-40B4-BE49-F238E27FC236}">
                <a16:creationId xmlns:a16="http://schemas.microsoft.com/office/drawing/2014/main" id="{560B2204-873D-4450-9B51-09463AB97CD6}"/>
              </a:ext>
            </a:extLst>
          </p:cNvPr>
          <p:cNvSpPr>
            <a:spLocks xmlns:a="http://schemas.openxmlformats.org/drawingml/2006/main" noGrp="1"/>
          </p:cNvSpPr>
          <p:nvPr/>
        </p:nvSpPr>
        <p:spPr>
          <a:xfrm xmlns:a="http://schemas.openxmlformats.org/drawingml/2006/main">
            <a:off x="685800" y="723900"/>
            <a:ext cx="108204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850" b="1">
                <a:solidFill>
                  <a:srgbClr val="F7FAFC"/>
                </a:solidFill>
                <a:latin typeface="Aptos"/>
                <a:ea typeface="Aptos"/>
                <a:cs typeface="Aptos"/>
              </a:defRPr>
            </a:pPr>
            <a:r>
              <a:rPr sz="2850" b="1">
                <a:solidFill>
                  <a:srgbClr val="F7FAFC"/>
                </a:solidFill>
                <a:latin typeface="Aptos"/>
                <a:ea typeface="Aptos"/>
                <a:cs typeface="Aptos"/>
              </a:rPr>
              <a:t>Conclusão</a:t>
            </a:r>
          </a:p>
        </p:txBody>
      </p:sp>
      <p:sp>
        <p:nvSpPr>
          <p:cNvPr id="3" name="">
            <a:extLst xmlns:a="http://schemas.openxmlformats.org/drawingml/2006/main">
              <a:ext uri="{FF2B5EF4-FFF2-40B4-BE49-F238E27FC236}">
                <a16:creationId xmlns:a16="http://schemas.microsoft.com/office/drawing/2014/main" id="{3157FA0B-8A70-445E-B39F-8389A277BE43}"/>
              </a:ext>
            </a:extLst>
          </p:cNvPr>
          <p:cNvSpPr>
            <a:spLocks xmlns:a="http://schemas.openxmlformats.org/drawingml/2006/main" noGrp="1"/>
          </p:cNvSpPr>
          <p:nvPr/>
        </p:nvSpPr>
        <p:spPr>
          <a:xfrm xmlns:a="http://schemas.openxmlformats.org/drawingml/2006/main">
            <a:off x="685800" y="1809750"/>
            <a:ext cx="5905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20"/>
          </a:bodyPr>
          <a:lstStyle xmlns:a="http://schemas.openxmlformats.org/drawingml/2006/main"/>
          <a:p xmlns:a="http://schemas.openxmlformats.org/drawingml/2006/main">
            <a:pPr algn="l">
              <a:lnSpc>
                <a:spcPct val="110000"/>
              </a:lnSpc>
              <a:buNone/>
              <a:defRPr sz="2400" b="1">
                <a:solidFill>
                  <a:srgbClr val="F7FAFC"/>
                </a:solidFill>
                <a:latin typeface="Aptos"/>
                <a:ea typeface="Aptos"/>
                <a:cs typeface="Aptos"/>
              </a:defRPr>
            </a:pPr>
            <a:r>
              <a:rPr sz="2400" b="1">
                <a:solidFill>
                  <a:srgbClr val="F7FAFC"/>
                </a:solidFill>
                <a:latin typeface="Aptos"/>
                <a:ea typeface="Aptos"/>
                <a:cs typeface="Aptos"/>
              </a:rPr>
              <a:t>Fedora entrega uma experiência Linux moderna, aberta e próxima das tecnologias que movem servidores, nuvem e desenvolvimento.</a:t>
            </a:r>
          </a:p>
        </p:txBody>
      </p:sp>
      <p:sp>
        <p:nvSpPr>
          <p:cNvPr id="4" name="">
            <a:extLst xmlns:a="http://schemas.openxmlformats.org/drawingml/2006/main">
              <a:ext uri="{FF2B5EF4-FFF2-40B4-BE49-F238E27FC236}">
                <a16:creationId xmlns:a16="http://schemas.microsoft.com/office/drawing/2014/main" id="{73FA64AE-3C9C-4E51-9A3B-B7FBED5D6863}"/>
              </a:ext>
            </a:extLst>
          </p:cNvPr>
          <p:cNvSpPr>
            <a:spLocks xmlns:a="http://schemas.openxmlformats.org/drawingml/2006/main" noGrp="1"/>
          </p:cNvSpPr>
          <p:nvPr/>
        </p:nvSpPr>
        <p:spPr>
          <a:xfrm xmlns:a="http://schemas.openxmlformats.org/drawingml/2006/main">
            <a:off x="685800" y="3752850"/>
            <a:ext cx="5715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16000"/>
              </a:lnSpc>
              <a:buNone/>
              <a:defRPr sz="1800" b="0">
                <a:solidFill>
                  <a:srgbClr val="D7E8F7"/>
                </a:solidFill>
                <a:latin typeface="Aptos"/>
                <a:ea typeface="Aptos"/>
                <a:cs typeface="Aptos"/>
              </a:defRPr>
            </a:pPr>
            <a:r>
              <a:rPr sz="1800" b="0">
                <a:solidFill>
                  <a:srgbClr val="D7E8F7"/>
                </a:solidFill>
                <a:latin typeface="Aptos"/>
                <a:ea typeface="Aptos"/>
                <a:cs typeface="Aptos"/>
              </a:rPr>
              <a:t>É uma escolha forte para estudar, programar e testar ambientes atuais. O ciclo rápido e a compatibilidade com software proprietário exigem planejamento.</a:t>
            </a:r>
          </a:p>
        </p:txBody>
      </p:sp>
      <p:sp>
        <p:nvSpPr>
          <p:cNvPr id="5" name="">
            <a:extLst xmlns:a="http://schemas.openxmlformats.org/drawingml/2006/main">
              <a:ext uri="{FF2B5EF4-FFF2-40B4-BE49-F238E27FC236}">
                <a16:creationId xmlns:a16="http://schemas.microsoft.com/office/drawing/2014/main" id="{EFF32DF1-60C5-4AED-8C9F-5F122C705A28}"/>
              </a:ext>
            </a:extLst>
          </p:cNvPr>
          <p:cNvSpPr>
            <a:spLocks xmlns:a="http://schemas.openxmlformats.org/drawingml/2006/main" noGrp="1"/>
          </p:cNvSpPr>
          <p:nvPr/>
        </p:nvSpPr>
        <p:spPr>
          <a:xfrm xmlns:a="http://schemas.openxmlformats.org/drawingml/2006/main">
            <a:off x="685800" y="5619750"/>
            <a:ext cx="4000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5000"/>
              </a:lnSpc>
              <a:buNone/>
              <a:defRPr sz="2550" b="1">
                <a:solidFill>
                  <a:srgbClr val="51A2DA"/>
                </a:solidFill>
                <a:latin typeface="Aptos"/>
                <a:ea typeface="Aptos"/>
                <a:cs typeface="Aptos"/>
              </a:defRPr>
            </a:pPr>
            <a:r>
              <a:rPr sz="2550" b="1">
                <a:solidFill>
                  <a:srgbClr val="51A2DA"/>
                </a:solidFill>
                <a:latin typeface="Aptos"/>
                <a:ea typeface="Aptos"/>
                <a:cs typeface="Aptos"/>
              </a:rPr>
              <a:t>Perguntas?</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b0e989c5405d467c"/>
          <a:stretch xmlns:a="http://schemas.openxmlformats.org/drawingml/2006/main"/>
        </p:blipFill>
        <p:spPr>
          <a:xfrm xmlns:a="http://schemas.openxmlformats.org/drawingml/2006/main">
            <a:off x="6858000" y="1740694"/>
            <a:ext cx="4762500" cy="2976563"/>
          </a:xfrm>
          <a:prstGeom xmlns:a="http://schemas.openxmlformats.org/drawingml/2006/main" prst="roundRect">
            <a:avLst>
              <a:gd name="adj" fmla="val 4848"/>
            </a:avLst>
          </a:prstGeom>
        </p:spPr>
      </p:pic>
      <p:sp>
        <p:nvSpPr>
          <p:cNvPr id="7" name="">
            <a:extLst xmlns:a="http://schemas.openxmlformats.org/drawingml/2006/main">
              <a:ext uri="{FF2B5EF4-FFF2-40B4-BE49-F238E27FC236}">
                <a16:creationId xmlns:a16="http://schemas.microsoft.com/office/drawing/2014/main" id="{CA2DFB01-ACB4-4B94-8645-0BA9D7844890}"/>
              </a:ext>
            </a:extLst>
          </p:cNvPr>
          <p:cNvSpPr>
            <a:spLocks xmlns:a="http://schemas.openxmlformats.org/drawingml/2006/main" noGrp="1"/>
          </p:cNvSpPr>
          <p:nvPr/>
        </p:nvSpPr>
        <p:spPr>
          <a:xfrm xmlns:a="http://schemas.openxmlformats.org/drawingml/2006/main">
            <a:off x="7143750" y="4991100"/>
            <a:ext cx="4191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5000"/>
              </a:lnSpc>
              <a:buNone/>
              <a:defRPr sz="1350" b="0">
                <a:solidFill>
                  <a:srgbClr val="AAB7C4"/>
                </a:solidFill>
                <a:latin typeface="Aptos"/>
                <a:ea typeface="Aptos"/>
                <a:cs typeface="Aptos"/>
              </a:defRPr>
            </a:pPr>
            <a:r>
              <a:rPr sz="1350" b="0">
                <a:solidFill>
                  <a:srgbClr val="AAB7C4"/>
                </a:solidFill>
                <a:latin typeface="Aptos"/>
                <a:ea typeface="Aptos"/>
                <a:cs typeface="Aptos"/>
              </a:rPr>
              <a:t>Fedora Workstation 44 em execução na VM usada na demonstração.</a:t>
            </a:r>
          </a:p>
        </p:txBody>
      </p:sp>
      <p:sp>
        <p:nvSpPr>
          <p:cNvPr id="8" name="">
            <a:extLst xmlns:a="http://schemas.openxmlformats.org/drawingml/2006/main">
              <a:ext uri="{FF2B5EF4-FFF2-40B4-BE49-F238E27FC236}">
                <a16:creationId xmlns:a16="http://schemas.microsoft.com/office/drawing/2014/main" id="{BB45C3AE-DC39-4613-B731-4A774B6D1E7D}"/>
              </a:ext>
            </a:extLst>
          </p:cNvPr>
          <p:cNvSpPr>
            <a:spLocks xmlns:a="http://schemas.openxmlformats.org/drawingml/2006/main" noGrp="1"/>
          </p:cNvSpPr>
          <p:nvPr/>
        </p:nvSpPr>
        <p:spPr>
          <a:xfrm xmlns:a="http://schemas.openxmlformats.org/drawingml/2006/main">
            <a:off x="11049000" y="6419850"/>
            <a:ext cx="4572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5702"/>
          </a:bodyPr>
          <a:lstStyle xmlns:a="http://schemas.openxmlformats.org/drawingml/2006/main"/>
          <a:p xmlns:a="http://schemas.openxmlformats.org/drawingml/2006/main">
            <a:pPr algn="r">
              <a:lnSpc>
                <a:spcPct val="105000"/>
              </a:lnSpc>
              <a:buNone/>
              <a:defRPr sz="975" b="0">
                <a:solidFill>
                  <a:srgbClr val="AAB7C4"/>
                </a:solidFill>
                <a:latin typeface="Aptos"/>
                <a:ea typeface="Aptos"/>
                <a:cs typeface="Aptos"/>
              </a:defRPr>
            </a:pPr>
            <a:r>
              <a:rPr sz="975" b="0">
                <a:solidFill>
                  <a:srgbClr val="AAB7C4"/>
                </a:solidFill>
                <a:latin typeface="Aptos"/>
                <a:ea typeface="Aptos"/>
                <a:cs typeface="Aptos"/>
              </a:rPr>
              <a:t>10</a:t>
            </a:r>
          </a:p>
        </p:txBody>
      </p:sp>
    </p:spTree>
    <p:extLst>
      <p:ext uri="{BB962C8B-B14F-4D97-AF65-F5344CB8AC3E}">
        <p14:creationId xmlns:p14="http://schemas.microsoft.com/office/powerpoint/2010/main" val="178835321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2026-09-14T14:03:30.9700000Z</dcterms:created>
  <dcterms:modified xsi:type="dcterms:W3CDTF">2026-09-14T14:03:30.9710000Z</dcterms:modified>
</coreProperties>
</file>