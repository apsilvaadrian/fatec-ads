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Corbel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Lato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Corbel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Corbel-italic.fntdata"/><Relationship Id="rId47" Type="http://schemas.openxmlformats.org/officeDocument/2006/relationships/font" Target="fonts/Corbel-bold.fntdata"/><Relationship Id="rId49" Type="http://schemas.openxmlformats.org/officeDocument/2006/relationships/font" Target="fonts/Corbel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font" Target="fonts/Raleway-bold.fntdata"/><Relationship Id="rId34" Type="http://schemas.openxmlformats.org/officeDocument/2006/relationships/font" Target="fonts/Raleway-regular.fntdata"/><Relationship Id="rId37" Type="http://schemas.openxmlformats.org/officeDocument/2006/relationships/font" Target="fonts/Raleway-boldItalic.fntdata"/><Relationship Id="rId36" Type="http://schemas.openxmlformats.org/officeDocument/2006/relationships/font" Target="fonts/Raleway-italic.fntdata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981f3ba0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981f3ba0e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d981f3ba0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81f3ba0e_0_3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981f3ba0e_0_39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981f3ba0e_0_3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981f3ba0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981f3ba0e_0_3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d981f3ba0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81f3ba0e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981f3ba0e_0_5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981f3ba0e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81f3ba0e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81f3ba0e_0_6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981f3ba0e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81f3ba0e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81f3ba0e_0_7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981f3ba0e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81f3ba0e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981f3ba0e_0_8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981f3ba0e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81f3ba0e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981f3ba0e_0_11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981f3ba0e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981f3ba0e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981f3ba0e_0_1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981f3ba0e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981f3ba0e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981f3ba0e_0_13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981f3ba0e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981f3ba0e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981f3ba0e_0_18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981f3ba0e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981f3ba0e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981f3ba0e_0_14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981f3ba0e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981f3ba0e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981f3ba0e_0_2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981f3ba0e_0_2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81f3ba0e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981f3ba0e_0_16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981f3ba0e_0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981f3ba0e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981f3ba0e_0_17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981f3ba0e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981f3ba0e_0_23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981f3ba0e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981f3ba0e_0_27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981f3ba0e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981f3ba0e_0_3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981f3ba0e_0_3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981f3ba0e_0_3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981f3ba0e_0_32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981f3ba0e_0_3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981f3ba0e_0_33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d981f3ba0e_0_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981f3ba0e_0_33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981f3ba0e_0_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c265b9f91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cc265b9f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981f3ba0e_0_3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d981f3ba0e_0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981f3ba0e_0_38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d981f3ba0e_0_3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981f3ba0e_0_39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981f3ba0e_0_3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bc0292c2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bc0292c21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cbc0292c2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src.nist.gov/pubs/sp/800/145/fina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tecwi.com.br/produto/rack-servidor-data-cente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deivisontakatu/exemplo-express-so/blob/main/index.js" TargetMode="External"/><Relationship Id="rId4" Type="http://schemas.openxmlformats.org/officeDocument/2006/relationships/hyperlink" Target="https://github.com/deivisontakatu/exemplo-express-so/blob/main/index.j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hyperlink" Target="http://render.com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Nuvem e Sistemas Operacionais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Fundamentos da Computação em Nuvem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Características, Virtualização e Recursos em Cloud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Modelos de Serviço e Implantação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Provedores, Vantagens, Desafios e Segurança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Containers, Microsserviços e Backend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API REST com Express e Deploy no Render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Cloud Computing</a:t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396861" y="2552825"/>
            <a:ext cx="5600100" cy="1472700"/>
          </a:xfrm>
          <a:prstGeom prst="roundRect">
            <a:avLst>
              <a:gd fmla="val 5654" name="adj"/>
            </a:avLst>
          </a:prstGeom>
          <a:solidFill>
            <a:srgbClr val="D2D9F9"/>
          </a:solidFill>
          <a:ln cap="flat" cmpd="sng" w="83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601735" y="2757700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23"/>
              <a:buFont typeface="Corben"/>
              <a:buNone/>
            </a:pPr>
            <a:r>
              <a:rPr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Acesso sob Demanda</a:t>
            </a:r>
            <a:endParaRPr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601735" y="3186281"/>
            <a:ext cx="51903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Recursos alocados instantaneamente, sem intervenção humana manual.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6195044" y="2552825"/>
            <a:ext cx="5600100" cy="1472700"/>
          </a:xfrm>
          <a:prstGeom prst="roundRect">
            <a:avLst>
              <a:gd fmla="val 5654" name="adj"/>
            </a:avLst>
          </a:prstGeom>
          <a:solidFill>
            <a:srgbClr val="D2D9F9"/>
          </a:solidFill>
          <a:ln cap="flat" cmpd="sng" w="83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6399919" y="2757700"/>
            <a:ext cx="2556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23"/>
              <a:buFont typeface="Corben"/>
              <a:buNone/>
            </a:pPr>
            <a:r>
              <a:rPr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Rede de Acesso Amplo</a:t>
            </a:r>
            <a:endParaRPr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399919" y="3186281"/>
            <a:ext cx="51903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Acesso via dispositivos variados: PCs, smartphones e tablets.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396861" y="4223657"/>
            <a:ext cx="5600100" cy="1472700"/>
          </a:xfrm>
          <a:prstGeom prst="roundRect">
            <a:avLst>
              <a:gd fmla="val 5654" name="adj"/>
            </a:avLst>
          </a:prstGeom>
          <a:solidFill>
            <a:srgbClr val="D2D9F9"/>
          </a:solidFill>
          <a:ln cap="flat" cmpd="sng" w="83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01735" y="4428531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23"/>
              <a:buFont typeface="Corben"/>
              <a:buNone/>
            </a:pPr>
            <a:r>
              <a:rPr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Pool de Recursos</a:t>
            </a:r>
            <a:endParaRPr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601735" y="4857113"/>
            <a:ext cx="51903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Recursos compartilhados e alocados dinamicamente entre múltiplos usuários.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6195044" y="4223657"/>
            <a:ext cx="5600100" cy="1472700"/>
          </a:xfrm>
          <a:prstGeom prst="roundRect">
            <a:avLst>
              <a:gd fmla="val 5654" name="adj"/>
            </a:avLst>
          </a:prstGeom>
          <a:solidFill>
            <a:srgbClr val="D2D9F9"/>
          </a:solidFill>
          <a:ln cap="flat" cmpd="sng" w="83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6399919" y="4428531"/>
            <a:ext cx="2849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23"/>
              <a:buFont typeface="Corben"/>
              <a:buNone/>
            </a:pPr>
            <a:r>
              <a:rPr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Mensuração Automática</a:t>
            </a:r>
            <a:endParaRPr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6399919" y="4857113"/>
            <a:ext cx="51903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Uso monitorado e medido automaticamente para cobrança e controle.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As principais características (modelo NIST) são:</a:t>
            </a:r>
            <a:endParaRPr b="1" sz="2400"/>
          </a:p>
          <a:p>
            <a:pPr indent="-381000" lvl="0" marL="457200" rtl="0" algn="just">
              <a:spcBef>
                <a:spcPts val="210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Autoatendimento sob demanda: Recursos podem ser provisionados automaticamente pelo usuário.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Amplo acesso à rede: Serviços acessíveis via internet por diferentes dispositivos.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Pool de recursos: Recursos compartilhados entre múltiplos usuários (multi-tenant).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Elasticidade: Capacidade de escalar recursos rapidamente conforme a demanda.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Serviço mensurável: Uso monitorado e cobrado conforme consumo (pay-per-use).</a:t>
            </a:r>
            <a:endParaRPr sz="2400"/>
          </a:p>
        </p:txBody>
      </p:sp>
      <p:sp>
        <p:nvSpPr>
          <p:cNvPr id="75" name="Google Shape;75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Características da Computação em Nuvem</a:t>
            </a:r>
            <a:endParaRPr/>
          </a:p>
        </p:txBody>
      </p:sp>
      <p:sp>
        <p:nvSpPr>
          <p:cNvPr id="76" name="Google Shape;76;p8"/>
          <p:cNvSpPr txBox="1"/>
          <p:nvPr/>
        </p:nvSpPr>
        <p:spPr>
          <a:xfrm>
            <a:off x="7920125" y="65250"/>
            <a:ext cx="420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csrc.nist.gov/pubs/sp/800/145/final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idx="1" type="body"/>
          </p:nvPr>
        </p:nvSpPr>
        <p:spPr>
          <a:xfrm>
            <a:off x="459000" y="1982600"/>
            <a:ext cx="76959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800"/>
              <a:t>A evolução para a nuvem representou uma mudança de paradigma: de ativos físicos próprios para serviços contratados sob demanda. As organizações deixaram de investir em hardware (CAPEX) e passaram a pagar apenas pelo que consomem (OPEX), ganhando agilidade e reduzindo custos operacionais.</a:t>
            </a:r>
            <a:endParaRPr sz="2800"/>
          </a:p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</a:t>
            </a:r>
            <a:r>
              <a:rPr lang="pt-BR"/>
              <a:t>nfraestrutura Tradicional para Cloud</a:t>
            </a:r>
            <a:endParaRPr/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3300" y="1982600"/>
            <a:ext cx="4178700" cy="41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>
            <a:off x="8256300" y="6161300"/>
            <a:ext cx="369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tecwi.com.br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O Sistema Operacional é a camada fundamental que abstrai o hardware e gerencia recursos.</a:t>
            </a:r>
            <a:endParaRPr sz="30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000"/>
              <a:t>A virtualização permite criar múltiplas máquinas virtuais (VMs) sobre um único servidor físico, isolando ambientes e otimizando recursos. O hypervisor (ou VMM) é o software responsável por essa abstração.</a:t>
            </a:r>
            <a:endParaRPr sz="3000"/>
          </a:p>
        </p:txBody>
      </p:sp>
      <p:sp>
        <p:nvSpPr>
          <p:cNvPr id="92" name="Google Shape;92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Virtualização como Base da Nuvem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Virtualização como Base da Nuvem</a:t>
            </a:r>
            <a:endParaRPr/>
          </a:p>
        </p:txBody>
      </p:sp>
      <p:pic>
        <p:nvPicPr>
          <p:cNvPr descr="preencoded.png" id="99" name="Google Shape;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149" y="1749826"/>
            <a:ext cx="10623703" cy="48619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8566066" y="2397381"/>
            <a:ext cx="23499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849"/>
              <a:buFont typeface="Corben"/>
              <a:buNone/>
            </a:pPr>
            <a:r>
              <a:rPr i="0" lang="pt-BR" sz="184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Hardware Físico</a:t>
            </a:r>
            <a:endParaRPr i="0" sz="184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8566066" y="2774701"/>
            <a:ext cx="25902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479"/>
              <a:buFont typeface="Nobile"/>
              <a:buNone/>
            </a:pPr>
            <a:r>
              <a:rPr i="0" lang="pt-BR" sz="147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Servidor, CPU, memória e rede como base</a:t>
            </a:r>
            <a:endParaRPr i="0" sz="147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1066689" y="3995445"/>
            <a:ext cx="23499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849"/>
              <a:buFont typeface="Corben"/>
              <a:buNone/>
            </a:pPr>
            <a:r>
              <a:rPr i="0" lang="pt-BR" sz="184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Hypervisor</a:t>
            </a:r>
            <a:endParaRPr i="0" sz="184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1035355" y="4372766"/>
            <a:ext cx="2381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479"/>
              <a:buFont typeface="Nobile"/>
              <a:buNone/>
            </a:pPr>
            <a:r>
              <a:rPr i="0" lang="pt-BR" sz="147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Camada de virtualização (ex: VMware ESXi, KVM)</a:t>
            </a:r>
            <a:endParaRPr i="0" sz="147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8566066" y="4718751"/>
            <a:ext cx="23499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849"/>
              <a:buFont typeface="Corben"/>
              <a:buNone/>
            </a:pPr>
            <a:r>
              <a:rPr i="0" lang="pt-BR" sz="184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Máquinas Virtuais</a:t>
            </a:r>
            <a:endParaRPr i="0" sz="184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8566066" y="5096073"/>
            <a:ext cx="2590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479"/>
              <a:buFont typeface="Nobile"/>
              <a:buNone/>
            </a:pPr>
            <a:r>
              <a:rPr i="0" lang="pt-BR" sz="147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VMs com sistemas operacionais e apps independentes</a:t>
            </a:r>
            <a:endParaRPr i="0" sz="147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Um dos princípios fundamentais da nuvem é o self-service sob demanda: o usuário provisiona recursos sem interação humana com o provedor.</a:t>
            </a:r>
            <a:endParaRPr sz="30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000"/>
              <a:t>Elasticidade é a capacidade de expandir ou contrair recursos automaticamente conforme a demanda. A escalabilidade refere-se à capacidade do sistema de crescer para atender cargas maiores.</a:t>
            </a:r>
            <a:endParaRPr sz="3000"/>
          </a:p>
        </p:txBody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Recursos Computacionais sob Demanda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Alta Disponibilidade em Cloud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419363" y="2380030"/>
            <a:ext cx="5581200" cy="1738800"/>
          </a:xfrm>
          <a:prstGeom prst="roundRect">
            <a:avLst>
              <a:gd fmla="val 7311" name="adj"/>
            </a:avLst>
          </a:prstGeom>
          <a:solidFill>
            <a:srgbClr val="F9F9FF">
              <a:alpha val="94900"/>
            </a:srgbClr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419363" y="2353549"/>
            <a:ext cx="5581200" cy="105900"/>
          </a:xfrm>
          <a:prstGeom prst="roundRect">
            <a:avLst>
              <a:gd fmla="val 76919" name="adj"/>
            </a:avLst>
          </a:prstGeom>
          <a:solidFill>
            <a:srgbClr val="B10507"/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2918941" y="2089049"/>
            <a:ext cx="582000" cy="582000"/>
          </a:xfrm>
          <a:prstGeom prst="roundRect">
            <a:avLst>
              <a:gd fmla="val 136509" name="adj"/>
            </a:avLst>
          </a:prstGeom>
          <a:solidFill>
            <a:srgbClr val="B00303"/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3093552" y="2234488"/>
            <a:ext cx="232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4"/>
              <a:buFont typeface="Corben"/>
              <a:buNone/>
            </a:pPr>
            <a:r>
              <a:rPr i="0" lang="pt-BR" sz="182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i="0" sz="1824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639799" y="2864965"/>
            <a:ext cx="2890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868"/>
              <a:buFont typeface="Corben"/>
              <a:buNone/>
            </a:pPr>
            <a:r>
              <a:rPr b="1" i="0" lang="pt-BR" sz="1868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Zonas de Disponibilidade</a:t>
            </a:r>
            <a:endParaRPr b="1" i="0" sz="1868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639799" y="3282560"/>
            <a:ext cx="514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0"/>
              <a:buFont typeface="Nobile"/>
              <a:buNone/>
            </a:pPr>
            <a:r>
              <a:rPr i="0" lang="pt-BR" sz="1520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Datacenters fisicamente separados dentro de uma mesma região, com energia e rede independentes.</a:t>
            </a:r>
            <a:endParaRPr i="0" sz="152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191440" y="2380030"/>
            <a:ext cx="5581200" cy="1738800"/>
          </a:xfrm>
          <a:prstGeom prst="roundRect">
            <a:avLst>
              <a:gd fmla="val 7311" name="adj"/>
            </a:avLst>
          </a:prstGeom>
          <a:solidFill>
            <a:srgbClr val="F9F9FF">
              <a:alpha val="94900"/>
            </a:srgbClr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6191440" y="2353549"/>
            <a:ext cx="5581200" cy="105900"/>
          </a:xfrm>
          <a:prstGeom prst="roundRect">
            <a:avLst>
              <a:gd fmla="val 76919" name="adj"/>
            </a:avLst>
          </a:prstGeom>
          <a:solidFill>
            <a:srgbClr val="B10507"/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8691018" y="2089049"/>
            <a:ext cx="582000" cy="582000"/>
          </a:xfrm>
          <a:prstGeom prst="roundRect">
            <a:avLst>
              <a:gd fmla="val 136509" name="adj"/>
            </a:avLst>
          </a:prstGeom>
          <a:solidFill>
            <a:srgbClr val="B00303"/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8865628" y="2234488"/>
            <a:ext cx="232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4"/>
              <a:buFont typeface="Corben"/>
              <a:buNone/>
            </a:pPr>
            <a:r>
              <a:rPr i="0" lang="pt-BR" sz="182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i="0" sz="1824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6411875" y="2864965"/>
            <a:ext cx="2802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868"/>
              <a:buFont typeface="Corben"/>
              <a:buNone/>
            </a:pPr>
            <a:r>
              <a:rPr b="1" i="0" lang="pt-BR" sz="1868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Balanceamento de Carga</a:t>
            </a:r>
            <a:endParaRPr b="1" i="0" sz="1868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6411875" y="3282560"/>
            <a:ext cx="514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0"/>
              <a:buFont typeface="Nobile"/>
              <a:buNone/>
            </a:pPr>
            <a:r>
              <a:rPr i="0" lang="pt-BR" sz="1520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Distribui requisições entre múltiplas instâncias, evitando sobrecarga e ponto único de falha.</a:t>
            </a:r>
            <a:endParaRPr i="0" sz="152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19363" y="4600615"/>
            <a:ext cx="5581200" cy="1738800"/>
          </a:xfrm>
          <a:prstGeom prst="roundRect">
            <a:avLst>
              <a:gd fmla="val 7311" name="adj"/>
            </a:avLst>
          </a:prstGeom>
          <a:solidFill>
            <a:srgbClr val="F9F9FF">
              <a:alpha val="94900"/>
            </a:srgbClr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419363" y="4574134"/>
            <a:ext cx="5581200" cy="105900"/>
          </a:xfrm>
          <a:prstGeom prst="roundRect">
            <a:avLst>
              <a:gd fmla="val 76919" name="adj"/>
            </a:avLst>
          </a:prstGeom>
          <a:solidFill>
            <a:srgbClr val="B10507"/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2918941" y="4309633"/>
            <a:ext cx="582000" cy="582000"/>
          </a:xfrm>
          <a:prstGeom prst="roundRect">
            <a:avLst>
              <a:gd fmla="val 136509" name="adj"/>
            </a:avLst>
          </a:prstGeom>
          <a:solidFill>
            <a:srgbClr val="B00303"/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3093552" y="4455072"/>
            <a:ext cx="232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4"/>
              <a:buFont typeface="Corben"/>
              <a:buNone/>
            </a:pPr>
            <a:r>
              <a:rPr i="0" lang="pt-BR" sz="182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i="0" sz="1824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639799" y="5085550"/>
            <a:ext cx="242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868"/>
              <a:buFont typeface="Corben"/>
              <a:buNone/>
            </a:pPr>
            <a:r>
              <a:rPr b="1" i="0" lang="pt-BR" sz="1868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Replicação de Dados</a:t>
            </a:r>
            <a:endParaRPr b="1" i="0" sz="1868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639799" y="5503144"/>
            <a:ext cx="514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0"/>
              <a:buFont typeface="Nobile"/>
              <a:buNone/>
            </a:pPr>
            <a:r>
              <a:rPr i="0" lang="pt-BR" sz="1520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Dados replicados sincronamente entre zonas para garantir continuidade em caso de falha.</a:t>
            </a:r>
            <a:endParaRPr i="0" sz="152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6191440" y="4600615"/>
            <a:ext cx="5581200" cy="1738800"/>
          </a:xfrm>
          <a:prstGeom prst="roundRect">
            <a:avLst>
              <a:gd fmla="val 7311" name="adj"/>
            </a:avLst>
          </a:prstGeom>
          <a:solidFill>
            <a:srgbClr val="F9F9FF">
              <a:alpha val="94900"/>
            </a:srgbClr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6191440" y="4574134"/>
            <a:ext cx="5581200" cy="105900"/>
          </a:xfrm>
          <a:prstGeom prst="roundRect">
            <a:avLst>
              <a:gd fmla="val 76919" name="adj"/>
            </a:avLst>
          </a:prstGeom>
          <a:solidFill>
            <a:srgbClr val="B10507"/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8691018" y="4309633"/>
            <a:ext cx="582000" cy="582000"/>
          </a:xfrm>
          <a:prstGeom prst="roundRect">
            <a:avLst>
              <a:gd fmla="val 136509" name="adj"/>
            </a:avLst>
          </a:prstGeom>
          <a:solidFill>
            <a:srgbClr val="B00303"/>
          </a:solidFill>
          <a:ln>
            <a:noFill/>
          </a:ln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8865628" y="4455072"/>
            <a:ext cx="232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24"/>
              <a:buFont typeface="Corben"/>
              <a:buNone/>
            </a:pPr>
            <a:r>
              <a:rPr i="0" lang="pt-BR" sz="182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i="0" sz="1824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6411875" y="5085550"/>
            <a:ext cx="2424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868"/>
              <a:buFont typeface="Corben"/>
              <a:buNone/>
            </a:pPr>
            <a:r>
              <a:rPr b="1" i="0" lang="pt-BR" sz="1868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Failover Automático</a:t>
            </a:r>
            <a:endParaRPr b="1" i="0" sz="1868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6411875" y="5503144"/>
            <a:ext cx="514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0"/>
              <a:buFont typeface="Nobile"/>
              <a:buNone/>
            </a:pPr>
            <a:r>
              <a:rPr i="0" lang="pt-BR" sz="1520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Em caso de falha, o tráfego é redirecionado automaticamente para instâncias saudáveis.</a:t>
            </a:r>
            <a:endParaRPr i="0" sz="152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O provedor disponibiliza </a:t>
            </a:r>
            <a:r>
              <a:rPr b="1" lang="pt-BR" sz="2600"/>
              <a:t>infraestrutura </a:t>
            </a:r>
            <a:r>
              <a:rPr lang="pt-BR" sz="2400"/>
              <a:t>virtualizada: servidores, armazenamento e rede sob demanda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O cliente gerencia SO, middleware, runtime e aplicações, maior controle e flexibilidade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Escala elástica: recursos alocados ou liberados conforme a necessidade, com pagamento por uso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Exemplos: AWS EC2, Google Compute Engine, Azure Virtual Machines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Ideal para migração de datacenters físicos e ambientes que exigem controle do SO</a:t>
            </a:r>
            <a:endParaRPr sz="2400"/>
          </a:p>
        </p:txBody>
      </p:sp>
      <p:sp>
        <p:nvSpPr>
          <p:cNvPr id="149" name="Google Shape;149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de Serviço: IaaS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O provedor gerencia toda a infraestrutura e a </a:t>
            </a:r>
            <a:r>
              <a:rPr b="1" lang="pt-BR" sz="2600"/>
              <a:t>plataforma </a:t>
            </a:r>
            <a:r>
              <a:rPr lang="pt-BR" sz="2400"/>
              <a:t>de execução: SO, runtime e middleware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O desenvolvedor foca exclusivamente no código e na lógica da aplicação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Reduz complexidade operacional e acelera o ciclo de desenvolvimento e deploy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Exemplos: Google App Engine, Azure App Service, Heroku, AWS Elastic Beanstalk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Indicado para equipes ágeis que desejam reduzir overhead de gerenciamento de infraestrutura</a:t>
            </a:r>
            <a:endParaRPr sz="2400"/>
          </a:p>
        </p:txBody>
      </p:sp>
      <p:sp>
        <p:nvSpPr>
          <p:cNvPr id="156" name="Google Shape;156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de Serviço: PaaS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 sz="2600"/>
              <a:t>Software </a:t>
            </a:r>
            <a:r>
              <a:rPr lang="pt-BR" sz="2400"/>
              <a:t>completo entregue via internet — o usuário acessa sem instalar ou gerenciar nada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Toda a infraestrutura, plataforma e software são gerenciados pelo provedor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Modelo de assinatura (subscription) com atualizações automáticas e alta disponibilidade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Exemplos: Google Workspace, Microsoft 365, Salesforce, Slack, Zoom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 sz="2400"/>
              <a:t>Reduz custos de licenciamento e elimina a necessidade de manutenção local de software</a:t>
            </a:r>
            <a:endParaRPr sz="2400"/>
          </a:p>
        </p:txBody>
      </p:sp>
      <p:sp>
        <p:nvSpPr>
          <p:cNvPr id="163" name="Google Shape;163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de Serviço: SaaS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Principais Provedores de Cloud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396899" y="4064454"/>
            <a:ext cx="2663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23"/>
              <a:buFont typeface="Corben"/>
              <a:buNone/>
            </a:pPr>
            <a:r>
              <a:rPr b="1"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AWS — Amazon Web Services</a:t>
            </a:r>
            <a:endParaRPr b="1"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396899" y="4802694"/>
            <a:ext cx="26637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Líder global com mais de 200 serviços. Maior quota de mercado e ecossistema mais maduro.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3308333" y="4064454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23"/>
              <a:buFont typeface="Corben"/>
              <a:buNone/>
            </a:pPr>
            <a:r>
              <a:rPr b="1"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Azure — Microsoft</a:t>
            </a:r>
            <a:endParaRPr b="1"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308333" y="4493040"/>
            <a:ext cx="26637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Forte integração com ecossistema Microsoft. Dominante em ambientes corporativos híbridos.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219870" y="4064454"/>
            <a:ext cx="2663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23"/>
              <a:buFont typeface="Corben"/>
              <a:buNone/>
            </a:pPr>
            <a:r>
              <a:rPr b="1"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GCP — Google Cloud Platform</a:t>
            </a:r>
            <a:endParaRPr b="1"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219870" y="4802694"/>
            <a:ext cx="26637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Destaque em Big Data, IA/ML e containers (Kubernetes foi criado pelo Google).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1393" y="2636619"/>
            <a:ext cx="1473157" cy="91041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/>
          <p:nvPr/>
        </p:nvSpPr>
        <p:spPr>
          <a:xfrm>
            <a:off x="9131409" y="4064454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23"/>
              <a:buFont typeface="Corben"/>
              <a:buNone/>
            </a:pPr>
            <a:r>
              <a:rPr b="1"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Outros Provedores</a:t>
            </a:r>
            <a:endParaRPr b="1"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9131409" y="4493040"/>
            <a:ext cx="2663700" cy="1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Oracle Cloud, IBM Cloud, Alibaba Cloud e provedores regionais como Locaweb e AWS Local Zones no Brasil.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911" y="2343547"/>
            <a:ext cx="1473146" cy="1473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9910" y="2343547"/>
            <a:ext cx="1473146" cy="1473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8400" y="2355250"/>
            <a:ext cx="1473150" cy="14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de Implantação em Cloud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396861" y="2394324"/>
            <a:ext cx="5600100" cy="1809900"/>
          </a:xfrm>
          <a:prstGeom prst="roundRect">
            <a:avLst>
              <a:gd fmla="val 4600" name="adj"/>
            </a:avLst>
          </a:prstGeom>
          <a:solidFill>
            <a:srgbClr val="D2D9F9"/>
          </a:solidFill>
          <a:ln cap="flat" cmpd="sng" w="83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01736" y="2599198"/>
            <a:ext cx="2477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3"/>
              <a:buFont typeface="Corben"/>
              <a:buNone/>
            </a:pPr>
            <a:r>
              <a:rPr b="1" i="0" lang="pt-BR" sz="192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☁️</a:t>
            </a:r>
            <a:r>
              <a:rPr b="1"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 Nuvem Pública</a:t>
            </a:r>
            <a:endParaRPr b="1"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01736" y="3047756"/>
            <a:ext cx="51903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Infraestrutura compartilhada entre múltiplos clientes. Alta escalabilidade e menor custo. Ex: AWS, Azure, GCP.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195044" y="2394324"/>
            <a:ext cx="5600100" cy="1809900"/>
          </a:xfrm>
          <a:prstGeom prst="roundRect">
            <a:avLst>
              <a:gd fmla="val 4600" name="adj"/>
            </a:avLst>
          </a:prstGeom>
          <a:solidFill>
            <a:srgbClr val="D2D9F9"/>
          </a:solidFill>
          <a:ln cap="flat" cmpd="sng" w="83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399919" y="2599198"/>
            <a:ext cx="2477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3"/>
              <a:buFont typeface="Corben"/>
              <a:buNone/>
            </a:pPr>
            <a:r>
              <a:rPr b="1" i="0" lang="pt-BR" sz="192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🔒</a:t>
            </a:r>
            <a:r>
              <a:rPr b="1"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 Nuvem Privada</a:t>
            </a:r>
            <a:endParaRPr b="1"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399919" y="3047756"/>
            <a:ext cx="51903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Infraestrutura dedicada a uma única organização. Maior controle, segurança e customização. Pode ser on-premise ou terceirizada.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3295961" y="4415323"/>
            <a:ext cx="5600100" cy="1809900"/>
          </a:xfrm>
          <a:prstGeom prst="roundRect">
            <a:avLst>
              <a:gd fmla="val 4600" name="adj"/>
            </a:avLst>
          </a:prstGeom>
          <a:solidFill>
            <a:srgbClr val="D2D9F9"/>
          </a:solidFill>
          <a:ln cap="flat" cmpd="sng" w="83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500836" y="4620196"/>
            <a:ext cx="24777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3"/>
              <a:buFont typeface="Corben"/>
              <a:buNone/>
            </a:pPr>
            <a:r>
              <a:rPr b="1" i="0" lang="pt-BR" sz="192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🔗</a:t>
            </a:r>
            <a:r>
              <a:rPr b="1" i="0" lang="pt-BR" sz="1923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 Nuvem Híbrida</a:t>
            </a:r>
            <a:endParaRPr b="1" i="0" sz="192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500836" y="5068754"/>
            <a:ext cx="51903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529"/>
              <a:buFont typeface="Nobile"/>
              <a:buNone/>
            </a:pPr>
            <a:r>
              <a:rPr i="0" lang="pt-BR" sz="1529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Combina nuvem pública e privada. Cargas sensíveis ficam on-premise; picos de demanda usam a nuvem pública. Modelo mais adotado por grandes empresas.</a:t>
            </a:r>
            <a:endParaRPr i="0" sz="1529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 e Desafios da Cloud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315226" y="2651098"/>
            <a:ext cx="5749800" cy="3296700"/>
          </a:xfrm>
          <a:prstGeom prst="roundRect">
            <a:avLst>
              <a:gd fmla="val 4335" name="adj"/>
            </a:avLst>
          </a:prstGeom>
          <a:solidFill>
            <a:srgbClr val="4967E9">
              <a:alpha val="94900"/>
            </a:srgbClr>
          </a:solidFill>
          <a:ln>
            <a:noFill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13679" y="2849551"/>
            <a:ext cx="2480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5"/>
              <a:buFont typeface="Corben"/>
              <a:buNone/>
            </a:pPr>
            <a:r>
              <a:rPr i="0" lang="pt-BR" sz="19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i="0" lang="pt-BR" sz="19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Vantagens</a:t>
            </a:r>
            <a:endParaRPr i="0" sz="1925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13679" y="3378028"/>
            <a:ext cx="5352900" cy="25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Redução de CAPEX — substitui investimento em hardware por modelo operacional (OPEX)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 elástica e sob demanda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Alta disponibilidade e resiliência geográfica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Acesso global e colaboração remota facilitada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Inovação acelerada com serviços gerenciados de IA, analytics e IoT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412873" y="2849551"/>
            <a:ext cx="2480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5"/>
              <a:buFont typeface="Corben"/>
              <a:buNone/>
            </a:pPr>
            <a:r>
              <a:rPr i="0" lang="pt-BR" sz="1925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⚠️</a:t>
            </a:r>
            <a:r>
              <a:rPr i="0" lang="pt-BR" sz="1925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 Desafios</a:t>
            </a:r>
            <a:endParaRPr i="0" sz="1925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412873" y="3378028"/>
            <a:ext cx="5463900" cy="25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Vendor lock-in: dependência de APIs e serviços proprietários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Segurança e conformidade regulatória (LGPD, GDPR)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Custos imprevisíveis sem governança adequada (FinOps)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Latência de rede em aplicações sensíveis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293672" lvl="0" marL="300022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431"/>
              <a:buFont typeface="Roboto"/>
              <a:buChar char="•"/>
            </a:pPr>
            <a:r>
              <a:rPr i="0" lang="pt-BR" sz="1431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Gestão de ambientes multicloud e híbridos complexos</a:t>
            </a:r>
            <a:endParaRPr i="0" sz="1431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Modelo de Responsabilidade Compartilhada: O provedor garante a segurança da nuvem (infraestrutura física); o cliente garante a segurança na nuvem (dados, acesso, configurações).</a:t>
            </a:r>
            <a:endParaRPr sz="3000"/>
          </a:p>
          <a:p>
            <a:pPr indent="-393700" lvl="1" marL="914400" rtl="0" algn="just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pt-BR" sz="2600"/>
              <a:t>Proteção de dados armazenados e em envio</a:t>
            </a:r>
            <a:endParaRPr sz="2600"/>
          </a:p>
          <a:p>
            <a:pPr indent="-393700" lvl="1" marL="914400" rtl="0" algn="just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pt-BR" sz="2600"/>
              <a:t>Controle de acesso com login seguro</a:t>
            </a:r>
            <a:endParaRPr sz="2600"/>
          </a:p>
          <a:p>
            <a:pPr indent="-393700" lvl="1" marL="914400" rtl="0" algn="just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pt-BR" sz="2600"/>
              <a:t>Monitoramento constante de atividades suspeitas</a:t>
            </a:r>
            <a:endParaRPr sz="2600"/>
          </a:p>
          <a:p>
            <a:pPr indent="-393700" lvl="1" marL="914400" rtl="0" algn="just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pt-BR" sz="2600"/>
              <a:t>Adequação a normas e leis de proteção de dados</a:t>
            </a:r>
            <a:endParaRPr sz="2600"/>
          </a:p>
        </p:txBody>
      </p:sp>
      <p:sp>
        <p:nvSpPr>
          <p:cNvPr id="214" name="Google Shape;214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Segurança em Cloud Computing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Containers e Microsserviços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458997" y="2295509"/>
            <a:ext cx="3176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56"/>
              <a:buFont typeface="Corben"/>
              <a:buNone/>
            </a:pPr>
            <a:r>
              <a:rPr b="1" i="0" lang="pt-BR" sz="2456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Containers</a:t>
            </a:r>
            <a:endParaRPr b="1" i="0" sz="2456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58997" y="2906818"/>
            <a:ext cx="57339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92"/>
              <a:buFont typeface="Nobile"/>
              <a:buNone/>
            </a:pPr>
            <a:r>
              <a:rPr i="0" lang="pt-BR" sz="1992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Empacotam aplicação + dependências em unidades isoladas, compartilhando o kernel do SO hospedeiro. Leves, portáteis e com inicialização rápida.</a:t>
            </a:r>
            <a:endParaRPr i="0" sz="1992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58997" y="4598310"/>
            <a:ext cx="5733900" cy="15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5281" lvl="0" marL="455281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92"/>
              <a:buFont typeface="Roboto"/>
              <a:buChar char="•"/>
            </a:pPr>
            <a:r>
              <a:rPr i="0" lang="pt-BR" sz="1992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Docker: padrão de fato para criação e distribuição de containers</a:t>
            </a:r>
            <a:endParaRPr i="0" sz="1992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455281" lvl="0" marL="455281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92"/>
              <a:buFont typeface="Roboto"/>
              <a:buChar char="•"/>
            </a:pPr>
            <a:r>
              <a:rPr i="0" lang="pt-BR" sz="1992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Kubernetes: orquestração, escalabilidade automática e alta disponibilidade</a:t>
            </a:r>
            <a:endParaRPr i="0" sz="1992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6385745" y="2295501"/>
            <a:ext cx="3176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56"/>
              <a:buFont typeface="Corben"/>
              <a:buNone/>
            </a:pPr>
            <a:r>
              <a:rPr b="1" i="0" lang="pt-BR" sz="2456" u="none" cap="none" strike="noStrike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Microsserviços</a:t>
            </a:r>
            <a:endParaRPr b="1" i="0" sz="2456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385745" y="2906808"/>
            <a:ext cx="57339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92"/>
              <a:buFont typeface="Nobile"/>
              <a:buNone/>
            </a:pPr>
            <a:r>
              <a:rPr i="0" lang="pt-BR" sz="1992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Arquitetura que divide aplicações em serviços independentes, cada um com responsabilidade única, comunicando-se via API.</a:t>
            </a:r>
            <a:endParaRPr i="0" sz="1992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385745" y="4223643"/>
            <a:ext cx="5733900" cy="15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5281" lvl="0" marL="455281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92"/>
              <a:buFont typeface="Roboto"/>
              <a:buChar char="•"/>
            </a:pPr>
            <a:r>
              <a:rPr i="0" lang="pt-BR" sz="1992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Facilita deploy independente, escalabilidade granular e resiliência</a:t>
            </a:r>
            <a:endParaRPr i="0" sz="1992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455281" lvl="0" marL="455281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92"/>
              <a:buFont typeface="Roboto"/>
              <a:buChar char="•"/>
            </a:pPr>
            <a:r>
              <a:rPr i="0" lang="pt-BR" sz="1992" u="none" cap="none" strike="noStrike">
                <a:solidFill>
                  <a:srgbClr val="404155"/>
                </a:solidFill>
                <a:latin typeface="Roboto"/>
                <a:ea typeface="Roboto"/>
                <a:cs typeface="Roboto"/>
                <a:sym typeface="Roboto"/>
              </a:rPr>
              <a:t>Base tecnológica das aplicações cloud-native modernas</a:t>
            </a:r>
            <a:endParaRPr i="0" sz="1992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607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pt-BR" sz="2100"/>
              <a:t>Servidor Backend: Sistema que processa requisições, gerencia dados e fornece respostas para clientes (apps, navegadores).</a:t>
            </a:r>
            <a:endParaRPr sz="2100"/>
          </a:p>
          <a:p>
            <a:pPr indent="-34607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pt-BR" sz="2100"/>
              <a:t>Funções Principais:</a:t>
            </a:r>
            <a:endParaRPr sz="2100"/>
          </a:p>
          <a:p>
            <a:pPr indent="-34607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pt-BR" sz="1600"/>
              <a:t> Armazenar/recuperar dados (banco de dados)</a:t>
            </a:r>
            <a:endParaRPr sz="1600"/>
          </a:p>
          <a:p>
            <a:pPr indent="-34607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pt-BR" sz="1600"/>
              <a:t>Executar regras de negócio</a:t>
            </a:r>
            <a:endParaRPr sz="1600"/>
          </a:p>
          <a:p>
            <a:pPr indent="-34607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pt-BR" sz="1600"/>
              <a:t>Fornecer APIs para comunicação</a:t>
            </a:r>
            <a:endParaRPr sz="1600"/>
          </a:p>
          <a:p>
            <a:pPr indent="-34607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pt-BR" sz="2100"/>
              <a:t>Web Service: Serviço acessível via web que permite comunicação entre sistemas usando HTTP/HTTPS.</a:t>
            </a:r>
            <a:endParaRPr sz="2100"/>
          </a:p>
          <a:p>
            <a:pPr indent="-34607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pt-BR" sz="1600"/>
              <a:t>Permite que sistemas heterogêneos (diferentes linguagens, plataformas ou tecnologias) se comuniquem de forma padronizada.</a:t>
            </a:r>
            <a:endParaRPr sz="1600"/>
          </a:p>
        </p:txBody>
      </p:sp>
      <p:sp>
        <p:nvSpPr>
          <p:cNvPr id="232" name="Google Shape;232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Servidor Backend e Web Service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uma API REST com Express</a:t>
            </a:r>
            <a:endParaRPr b="1" sz="4600"/>
          </a:p>
        </p:txBody>
      </p:sp>
      <p:sp>
        <p:nvSpPr>
          <p:cNvPr id="238" name="Google Shape;238;p23"/>
          <p:cNvSpPr txBox="1"/>
          <p:nvPr>
            <p:ph idx="1" type="body"/>
          </p:nvPr>
        </p:nvSpPr>
        <p:spPr>
          <a:xfrm>
            <a:off x="459000" y="1982600"/>
            <a:ext cx="11274000" cy="46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1: Inicializando o projeto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Crie uma nova pasta para seu projeto e abra no VS Code.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2: Instale o Express.js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npm install express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3: Instale o Cors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npm install cors express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4: Criando o arquivo api.js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Seguir o exemplo: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https://github.com/deivisontakatu/exemplo-express-so/</a:t>
            </a:r>
            <a:r>
              <a:rPr lang="pt-BR" u="sng">
                <a:solidFill>
                  <a:schemeClr val="hlink"/>
                </a:solidFill>
                <a:hlinkClick r:id="rId4"/>
              </a:rPr>
              <a:t>blob/main/index.js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5: Executando o servidor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node index.js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pt-BR" sz="1860"/>
              <a:t>CORS é um mecanismo de segurança que controla acesso entre domínios diferentes no navegador.</a:t>
            </a:r>
            <a:endParaRPr b="1" sz="186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9306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Plataforma de hospedagem em nuvem moderna. Suporta Node.js, Python e outras linguagens. Integração fácil com repositórios Git.</a:t>
            </a:r>
            <a:endParaRPr/>
          </a:p>
          <a:p>
            <a:pPr indent="-39306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Oferece deploy contínuo automático. Planos gratuitos para projetos pequenos. Interface simples e intuitiva para iniciantes.</a:t>
            </a:r>
            <a:endParaRPr/>
          </a:p>
          <a:p>
            <a:pPr indent="-39306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Escalável para aplicações profissionais. Certificado SSL incluso gratuitamente. Ideal para APIs e microsserviços.</a:t>
            </a:r>
            <a:endParaRPr/>
          </a:p>
        </p:txBody>
      </p:sp>
      <p:sp>
        <p:nvSpPr>
          <p:cNvPr id="244" name="Google Shape;244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Render para Simular Web Services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00"/>
              <a:t>Render para Simular Web Services</a:t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7075" y="1763538"/>
            <a:ext cx="6757849" cy="45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3251088" y="6328035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1" lang="pt-BR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render.com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Deploy rápido em poucos cliques. Configuração simplificada sem terminal. Atualizações automáticas via GitHub.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Ambiente de produção profissional. Escalabilidade automática sob demanda. Monitoramento de desempenho integrado.</a:t>
            </a:r>
            <a:endParaRPr/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/>
              <a:t>Suporte técnico eficiente. Infraestrutura confiável e segura. Perfeito para projetos acadêmicos.</a:t>
            </a:r>
            <a:endParaRPr/>
          </a:p>
        </p:txBody>
      </p:sp>
      <p:sp>
        <p:nvSpPr>
          <p:cNvPr id="258" name="Google Shape;258;p2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Benefícios do Render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/>
              <a:t>Criando uma API REST com Express</a:t>
            </a:r>
            <a:endParaRPr b="1" sz="4600"/>
          </a:p>
        </p:txBody>
      </p:sp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1: Commit do Projeto no Github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Deixe disponível o projeto em um repositório do Github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2: Criando a conta no Render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Acesse dashboard.render.com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3: Crie novo "Web Service"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Clique no botão New e conecte o repositorio no Github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4: Defina comando de start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Em Build Command: node / Em Start Command: node index.js</a:t>
            </a:r>
            <a:endParaRPr/>
          </a:p>
          <a:p>
            <a:pPr indent="-3397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7500"/>
              <a:buChar char="●"/>
            </a:pPr>
            <a:r>
              <a:rPr lang="pt-BR"/>
              <a:t># Passo 5: Deploy web service</a:t>
            </a:r>
            <a:endParaRPr/>
          </a:p>
          <a:p>
            <a:pPr indent="-33972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6667"/>
              <a:buChar char="○"/>
            </a:pPr>
            <a:r>
              <a:rPr lang="pt-BR"/>
              <a:t>Após realizer o deploy, utilize: seu-projeto.onrender.com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1. Crie uma aplicação utilizando Express.js com o nome cloud-so-app. Desenvolva uma página web que exiba informações do sistema operacional utilizando recursos do Node.js, como nome do host, plataforma, arquitetura, quantidade de CPUs, memória total, memória livre e tempo de atividade do sistema. Teste a aplicação localmente e verifique seu funcionamento no navegador;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Crie um repositório no GitHub e envie o projeto desenvolvido. Em seguida, crie uma conta no Render e publique a aplicação em ambiente de nuvem. Acesse o sistema online, compare as informações exibidas com a sua máquina local e analise as diferenças entre execução local e cloud;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82" name="Google Shape;282;p3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Identifique na aplicação os conceitos de Sistemas Operacionais estudados em aula, relacionando o projeto com processos, gerenciamento de memória, uso de CPU, sistema operacional hospedeiro, virtualização e computação em nuvem. Registre suas observações de forma técnica e organizada;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88" name="Google Shape;288;p3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pt-BR" sz="2800">
                <a:latin typeface="Roboto"/>
                <a:ea typeface="Roboto"/>
                <a:cs typeface="Roboto"/>
                <a:sym typeface="Roboto"/>
              </a:rPr>
              <a:t>Por fim, documente todo o processo na forma de Manual, contendo instalação das ferramentas, criação do projeto, desenvolvimento da aplicação, publicação no Render, testes realizados, comparações entre ambientes e conclusões finais. Salve o material no repositório da disciplina.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95" name="Google Shape;295;p3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TANENBAUM, Andrew S.; BOS, Herbert. Sistemas Operacionais Modernos. 4. ed. São Paulo: Pearson, 2016.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SILBERSCHATZ, Abraham; GALVIN, Peter B.; GAGNE, Greg. Fundamentos de Sistemas Operacionais. 9. ed. Rio de Janeiro: LTC,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STALLINGS, William. Sistemas Operacionais: Conceitos e Projetos. 8. ed. São Paulo: Pearson,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DENARDIN, G. W.; BARRIQUELLO, C. H. Sistemas Operacionais de Tempo Real e sua Aplicação em Sistemas Embarcados. Porto Alegre: Editora da UFRGS, 2014.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AWASTHI, A.; RAWAT, V. Ramificação e Tarefas do Sistema Operacional. Edições Nosso Conhecimento, 2023.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DOWNEY, Allen B. Think OS: A Brief Introduction to Operating Systems. Green Tea Press,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RED HAT. Red Hat Enterprise Linux – System Administration Guide. Documentação Oficial.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DOCKER INC. Docker Documentation. Documentação Oficial. Disponível em: https://docs.docker.com</a:t>
            </a:r>
            <a:endParaRPr sz="204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Nuvem e Sistemas Operacionais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302" name="Google Shape;302;p33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