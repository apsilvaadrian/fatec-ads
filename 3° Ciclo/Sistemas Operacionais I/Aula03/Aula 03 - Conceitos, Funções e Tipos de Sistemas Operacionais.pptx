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6858000" cx="12192000"/>
  <p:notesSz cx="6858000" cy="9144000"/>
  <p:embeddedFontLst>
    <p:embeddedFont>
      <p:font typeface="Raleway"/>
      <p:regular r:id="rId29"/>
      <p:bold r:id="rId30"/>
      <p:italic r:id="rId31"/>
      <p:boldItalic r:id="rId32"/>
    </p:embeddedFont>
    <p:embeddedFont>
      <p:font typeface="Roboto"/>
      <p:regular r:id="rId33"/>
      <p:bold r:id="rId34"/>
      <p:italic r:id="rId35"/>
      <p:boldItalic r:id="rId36"/>
    </p:embeddedFont>
    <p:embeddedFont>
      <p:font typeface="Lato"/>
      <p:regular r:id="rId37"/>
      <p:bold r:id="rId38"/>
      <p:italic r:id="rId39"/>
      <p:boldItalic r:id="rId40"/>
    </p:embeddedFont>
    <p:embeddedFont>
      <p:font typeface="Corbel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Italic.fntdata"/><Relationship Id="rId20" Type="http://schemas.openxmlformats.org/officeDocument/2006/relationships/slide" Target="slides/slide16.xml"/><Relationship Id="rId42" Type="http://schemas.openxmlformats.org/officeDocument/2006/relationships/font" Target="fonts/Corbel-bold.fntdata"/><Relationship Id="rId41" Type="http://schemas.openxmlformats.org/officeDocument/2006/relationships/font" Target="fonts/Corbel-regular.fntdata"/><Relationship Id="rId22" Type="http://schemas.openxmlformats.org/officeDocument/2006/relationships/slide" Target="slides/slide18.xml"/><Relationship Id="rId44" Type="http://schemas.openxmlformats.org/officeDocument/2006/relationships/font" Target="fonts/Corbel-boldItalic.fntdata"/><Relationship Id="rId21" Type="http://schemas.openxmlformats.org/officeDocument/2006/relationships/slide" Target="slides/slide17.xml"/><Relationship Id="rId43" Type="http://schemas.openxmlformats.org/officeDocument/2006/relationships/font" Target="fonts/Corbel-italic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aleway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aleway-italic.fntdata"/><Relationship Id="rId30" Type="http://schemas.openxmlformats.org/officeDocument/2006/relationships/font" Target="fonts/Raleway-bold.fntdata"/><Relationship Id="rId11" Type="http://schemas.openxmlformats.org/officeDocument/2006/relationships/slide" Target="slides/slide7.xml"/><Relationship Id="rId33" Type="http://schemas.openxmlformats.org/officeDocument/2006/relationships/font" Target="fonts/Roboto-regular.fntdata"/><Relationship Id="rId10" Type="http://schemas.openxmlformats.org/officeDocument/2006/relationships/slide" Target="slides/slide6.xml"/><Relationship Id="rId32" Type="http://schemas.openxmlformats.org/officeDocument/2006/relationships/font" Target="fonts/Raleway-boldItalic.fntdata"/><Relationship Id="rId13" Type="http://schemas.openxmlformats.org/officeDocument/2006/relationships/slide" Target="slides/slide9.xml"/><Relationship Id="rId35" Type="http://schemas.openxmlformats.org/officeDocument/2006/relationships/font" Target="fonts/Roboto-italic.fntdata"/><Relationship Id="rId12" Type="http://schemas.openxmlformats.org/officeDocument/2006/relationships/slide" Target="slides/slide8.xml"/><Relationship Id="rId34" Type="http://schemas.openxmlformats.org/officeDocument/2006/relationships/font" Target="fonts/Roboto-bold.fntdata"/><Relationship Id="rId15" Type="http://schemas.openxmlformats.org/officeDocument/2006/relationships/slide" Target="slides/slide11.xml"/><Relationship Id="rId37" Type="http://schemas.openxmlformats.org/officeDocument/2006/relationships/font" Target="fonts/Lato-regular.fntdata"/><Relationship Id="rId14" Type="http://schemas.openxmlformats.org/officeDocument/2006/relationships/slide" Target="slides/slide10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3.xml"/><Relationship Id="rId39" Type="http://schemas.openxmlformats.org/officeDocument/2006/relationships/font" Target="fonts/Lato-italic.fntdata"/><Relationship Id="rId16" Type="http://schemas.openxmlformats.org/officeDocument/2006/relationships/slide" Target="slides/slide12.xml"/><Relationship Id="rId38" Type="http://schemas.openxmlformats.org/officeDocument/2006/relationships/font" Target="fonts/Lato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c35b607eaf_0_2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3c35b607eaf_0_27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g3c35b607eaf_0_2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c35701d7d6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3c35701d7d6_0_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3c35701d7d6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cbc0292c21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cbc0292c21_0_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cbc0292c21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bc0292c21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cbc0292c21_0_1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cbc0292c21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bc0292c21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bc0292c21_0_2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cbc0292c21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bc0292c21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bc0292c21_0_4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cbc0292c21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bc0292c21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bc0292c21_0_5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cbc0292c21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bc0292c21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bc0292c21_0_6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cbc0292c21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bc0292c21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bc0292c21_0_7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cbc0292c21_0_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bc0292c21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bc0292c21_0_8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cbc0292c21_0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bc0292c21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bc0292c21_0_8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cbc0292c21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bc0292c21_0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bc0292c21_0_9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cbc0292c21_0_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c0ebd5ad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cc0ebd5ad4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cc0ebd5ad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c0ebd5ad4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cc0ebd5ad4_0_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cc0ebd5ad4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c0ebd5ad4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cc0ebd5ad4_0_1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cc0ebd5ad4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c0ebd5ad4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cc0ebd5ad4_0_2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cc0ebd5ad4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c0ebd5ad4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cc0ebd5ad4_0_3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cc0ebd5ad4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c0ebd5ad4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cc0ebd5ad4_0_3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cc0ebd5ad4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c0ebd5ad4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cc0ebd5ad4_0_4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cc0ebd5ad4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61c457fa7d68cde4_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61c457fa7d68cde4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c724ef714e_0_15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c724ef714e_0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c265b9f91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cc265b9f9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c35701d7d6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c35701d7d6_0_8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c35701d7d6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cbc0292c21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cbc0292c21_0_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cbc0292c21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7" name="Google Shape;17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" name="Google Shape;19;p2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42526"/>
              </a:buClr>
              <a:buSzPts val="5300"/>
              <a:buFont typeface="Roboto"/>
              <a:buNone/>
              <a:defRPr sz="5300">
                <a:solidFill>
                  <a:srgbClr val="B4252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303"/>
              </a:buClr>
              <a:buSzPts val="2900"/>
              <a:buFont typeface="Roboto"/>
              <a:buNone/>
              <a:defRPr sz="2900">
                <a:solidFill>
                  <a:srgbClr val="B0030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107200" y="1405133"/>
            <a:ext cx="994500" cy="32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</a:endParaRPr>
          </a:p>
        </p:txBody>
      </p:sp>
      <p:pic>
        <p:nvPicPr>
          <p:cNvPr id="23" name="Google Shape;23;p2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551384" y="1556792"/>
            <a:ext cx="11089200" cy="4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■"/>
              <a:defRPr sz="3200"/>
            </a:lvl6pPr>
            <a:lvl7pPr indent="-4318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●"/>
              <a:defRPr sz="3200"/>
            </a:lvl7pPr>
            <a:lvl8pPr indent="-4318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○"/>
              <a:defRPr sz="3200"/>
            </a:lvl8pPr>
            <a:lvl9pPr indent="-431800" lvl="8" marL="411480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rgbClr val="272F6D"/>
              </a:buClr>
              <a:buSzPts val="3200"/>
              <a:buChar char="■"/>
              <a:defRPr sz="32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0" name="Google Shape;30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 algn="just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088233" y="1567800"/>
            <a:ext cx="1143600" cy="26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77311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865613"/>
            <a:ext cx="11360700" cy="41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hyperlink" Target="https://github.com/torvalds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hyperlink" Target="https://git-scm.com/downloads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>
                <a:solidFill>
                  <a:srgbClr val="202529"/>
                </a:solidFill>
              </a:rPr>
              <a:t>Conceitos, Funções e Tipos de Sistemas Operacionais</a:t>
            </a:r>
            <a:endParaRPr sz="4500">
              <a:solidFill>
                <a:srgbClr val="202529"/>
              </a:solidFill>
            </a:endParaRPr>
          </a:p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Sumário</a:t>
            </a:r>
            <a:endParaRPr b="1"/>
          </a:p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Introdução aos Sistemas Operacionais;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Tipos de Sistemas Operacionais;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Controle de Versão com Git;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Boas Práticas de Versionamento;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Utilização de IDE;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Atividade.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Sistemas de Grande Porte (Mainframes)</a:t>
            </a:r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541800" y="2121925"/>
            <a:ext cx="112740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37"/>
              <a:buFont typeface="Tomorrow"/>
              <a:buNone/>
            </a:pPr>
            <a:r>
              <a:rPr i="0" lang="pt-BR" sz="2237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Projetados para alta capacidade de E/S e carga massiva de transações. Operam com processamento em lote e tempo compartilhado para muitos usuários simultâneos.</a:t>
            </a:r>
            <a:endParaRPr i="0" sz="2237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6697721" y="3495331"/>
            <a:ext cx="49557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8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2917"/>
              <a:buFont typeface="Tomorrow"/>
              <a:buNone/>
            </a:pPr>
            <a:r>
              <a:rPr i="0" lang="pt-BR" sz="3417" u="none" cap="none" strike="noStrike">
                <a:solidFill>
                  <a:srgbClr val="1D1D1B"/>
                </a:solidFill>
                <a:latin typeface="Roboto"/>
                <a:ea typeface="Roboto"/>
                <a:cs typeface="Roboto"/>
                <a:sym typeface="Roboto"/>
              </a:rPr>
              <a:t>Características principais</a:t>
            </a:r>
            <a:endParaRPr i="0" sz="3417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6697725" y="4223881"/>
            <a:ext cx="5118000" cy="19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960" lvl="0" marL="29856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837"/>
              <a:buFont typeface="Roboto"/>
              <a:buChar char="•"/>
            </a:pPr>
            <a:r>
              <a:rPr i="0" lang="pt-BR" sz="1837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Alta confiabilidade e disponibilidade</a:t>
            </a:r>
            <a:endParaRPr i="0" sz="1837" u="none" cap="none" strike="noStrike">
              <a:latin typeface="Roboto"/>
              <a:ea typeface="Roboto"/>
              <a:cs typeface="Roboto"/>
              <a:sym typeface="Roboto"/>
            </a:endParaRPr>
          </a:p>
          <a:p>
            <a:pPr indent="-323960" lvl="0" marL="29856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837"/>
              <a:buFont typeface="Roboto"/>
              <a:buChar char="•"/>
            </a:pPr>
            <a:r>
              <a:rPr i="0" lang="pt-BR" sz="1837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Processamento de lotes e transações (TPS)</a:t>
            </a:r>
            <a:endParaRPr i="0" sz="1837" u="none" cap="none" strike="noStrike">
              <a:latin typeface="Roboto"/>
              <a:ea typeface="Roboto"/>
              <a:cs typeface="Roboto"/>
              <a:sym typeface="Roboto"/>
            </a:endParaRPr>
          </a:p>
          <a:p>
            <a:pPr indent="-323960" lvl="0" marL="29856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837"/>
              <a:buFont typeface="Roboto"/>
              <a:buChar char="•"/>
            </a:pPr>
            <a:r>
              <a:rPr i="0" lang="pt-BR" sz="1837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Segurança e integridade de dados</a:t>
            </a:r>
            <a:endParaRPr i="0" sz="1837" u="none" cap="none" strike="noStrike">
              <a:latin typeface="Roboto"/>
              <a:ea typeface="Roboto"/>
              <a:cs typeface="Roboto"/>
              <a:sym typeface="Roboto"/>
            </a:endParaRPr>
          </a:p>
          <a:p>
            <a:pPr indent="-323960" lvl="0" marL="29856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837"/>
              <a:buFont typeface="Roboto"/>
              <a:buChar char="•"/>
            </a:pPr>
            <a:r>
              <a:rPr i="0" lang="pt-BR" sz="1837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Uso típico: bancos, grandes varejistas, processamento massivo</a:t>
            </a:r>
            <a:endParaRPr i="0" sz="1837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0" name="Google Shape;6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576" y="3495331"/>
            <a:ext cx="5705475" cy="31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12750" lvl="0" marL="457200" rtl="0" algn="just">
              <a:spcBef>
                <a:spcPts val="0"/>
              </a:spcBef>
              <a:spcAft>
                <a:spcPts val="0"/>
              </a:spcAft>
              <a:buSzPts val="2900"/>
              <a:buFont typeface="Roboto"/>
              <a:buChar char="●"/>
            </a:pPr>
            <a:r>
              <a:rPr b="1" lang="pt-BR" sz="2900">
                <a:latin typeface="Roboto"/>
                <a:ea typeface="Roboto"/>
                <a:cs typeface="Roboto"/>
                <a:sym typeface="Roboto"/>
              </a:rPr>
              <a:t>Exemplos</a:t>
            </a:r>
            <a:endParaRPr b="1" sz="2900">
              <a:latin typeface="Roboto"/>
              <a:ea typeface="Roboto"/>
              <a:cs typeface="Roboto"/>
              <a:sym typeface="Roboto"/>
            </a:endParaRPr>
          </a:p>
          <a:p>
            <a:pPr indent="-361950" lvl="1" marL="914400" rtl="0" algn="just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OS/360  </a:t>
            </a:r>
            <a:endParaRPr sz="2100"/>
          </a:p>
          <a:p>
            <a:pPr indent="-361950" lvl="1" marL="914400" rtl="0" algn="just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OS/390  </a:t>
            </a:r>
            <a:endParaRPr sz="2100"/>
          </a:p>
          <a:p>
            <a:pPr indent="-361950" lvl="1" marL="914400" rtl="0" algn="just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Linux (em ambientes de mainframe)  </a:t>
            </a:r>
            <a:endParaRPr sz="2100"/>
          </a:p>
          <a:p>
            <a:pPr indent="-361950" lvl="1" marL="914400" rtl="0" algn="just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Variantes UNIX  </a:t>
            </a:r>
            <a:endParaRPr sz="2100"/>
          </a:p>
          <a:p>
            <a:pPr indent="-412750" lvl="0" marL="457200" rtl="0" algn="just">
              <a:spcBef>
                <a:spcPts val="0"/>
              </a:spcBef>
              <a:spcAft>
                <a:spcPts val="0"/>
              </a:spcAft>
              <a:buSzPts val="2900"/>
              <a:buFont typeface="Roboto"/>
              <a:buChar char="●"/>
            </a:pPr>
            <a:r>
              <a:rPr b="1" lang="pt-BR" sz="2900">
                <a:latin typeface="Roboto"/>
                <a:ea typeface="Roboto"/>
                <a:cs typeface="Roboto"/>
                <a:sym typeface="Roboto"/>
              </a:rPr>
              <a:t>Mainframes continuam sendo utilizados, especialmente como:</a:t>
            </a:r>
            <a:endParaRPr b="1" sz="2900">
              <a:latin typeface="Roboto"/>
              <a:ea typeface="Roboto"/>
              <a:cs typeface="Roboto"/>
              <a:sym typeface="Roboto"/>
            </a:endParaRPr>
          </a:p>
          <a:p>
            <a:pPr indent="-361950" lvl="1" marL="914400" rtl="0" algn="just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- Servidores web de grande escala  </a:t>
            </a:r>
            <a:endParaRPr sz="2100"/>
          </a:p>
          <a:p>
            <a:pPr indent="-361950" lvl="1" marL="914400" rtl="0" algn="just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- Plataformas para e-commerce  </a:t>
            </a:r>
            <a:endParaRPr sz="2100"/>
          </a:p>
          <a:p>
            <a:pPr indent="-361950" lvl="1" marL="914400" rtl="0" algn="just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- Sistemas bancários de alta criticidade </a:t>
            </a:r>
            <a:endParaRPr sz="2100"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Sistemas de Grande Porte (Mainframes)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Sistemas Operacionais de Servidor</a:t>
            </a:r>
            <a:endParaRPr/>
          </a:p>
        </p:txBody>
      </p:sp>
      <p:pic>
        <p:nvPicPr>
          <p:cNvPr id="74" name="Google Shape;7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862" y="4527938"/>
            <a:ext cx="2319354" cy="1434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4243" y="4527938"/>
            <a:ext cx="2319354" cy="1434337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/>
          <p:nvPr/>
        </p:nvSpPr>
        <p:spPr>
          <a:xfrm>
            <a:off x="459000" y="2057541"/>
            <a:ext cx="11274000" cy="21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i="0" lang="pt-BR" sz="260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Focados em atender múltiplos usuários e serviços via rede: web, arquivos, bancos de dados e autenticação. Projetados para estabilidade, escalabilidade e compartilhamento de recursos.</a:t>
            </a:r>
            <a:endParaRPr i="0" sz="260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2806522" y="4444271"/>
            <a:ext cx="22713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62"/>
              <a:buFont typeface="Tomorrow"/>
              <a:buNone/>
            </a:pPr>
            <a:r>
              <a:rPr b="1" i="0" lang="pt-BR" sz="2162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Linux</a:t>
            </a:r>
            <a:endParaRPr b="1" i="0" sz="2162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2806522" y="4837094"/>
            <a:ext cx="3401100" cy="8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02"/>
              <a:buFont typeface="Tomorrow"/>
              <a:buNone/>
            </a:pPr>
            <a:r>
              <a:rPr i="0" lang="pt-BR" sz="1802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Ampla adoção em servidores, flexibilidade e vasto ecossistema de serviços.</a:t>
            </a:r>
            <a:endParaRPr i="0" sz="1802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9"/>
          <p:cNvSpPr/>
          <p:nvPr/>
        </p:nvSpPr>
        <p:spPr>
          <a:xfrm>
            <a:off x="8698192" y="4533759"/>
            <a:ext cx="22713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62"/>
              <a:buFont typeface="Tomorrow"/>
              <a:buNone/>
            </a:pPr>
            <a:r>
              <a:rPr b="1" i="0" lang="pt-BR" sz="2162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Windows Server</a:t>
            </a:r>
            <a:endParaRPr b="1" i="0" sz="2162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8698192" y="4926581"/>
            <a:ext cx="34011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02"/>
              <a:buFont typeface="Tomorrow"/>
              <a:buNone/>
            </a:pPr>
            <a:r>
              <a:rPr i="0" lang="pt-BR" sz="1802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Integração com Active Directory e serviços empresariais.</a:t>
            </a:r>
            <a:endParaRPr i="0" sz="1802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Sistemas de Multiprocessadores</a:t>
            </a:r>
            <a:endParaRPr/>
          </a:p>
        </p:txBody>
      </p:sp>
      <p:pic>
        <p:nvPicPr>
          <p:cNvPr id="87" name="Google Shape;87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188" y="3444100"/>
            <a:ext cx="5233926" cy="292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0"/>
          <p:cNvSpPr/>
          <p:nvPr/>
        </p:nvSpPr>
        <p:spPr>
          <a:xfrm>
            <a:off x="529657" y="2025898"/>
            <a:ext cx="111327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0" marR="0" rtl="0" algn="just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398"/>
              <a:buFont typeface="Tomorrow"/>
              <a:buNone/>
            </a:pPr>
            <a:r>
              <a:rPr i="0" lang="pt-BR" sz="200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Suportam múltiplas CPUs ou muitos núcleos para processamento paralelo. Requerem mecanismos avançados de escalonamento e sincronização para aproveitar o paralelismo e evitar condições de corrida.</a:t>
            </a:r>
            <a:endParaRPr i="0" sz="200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5898315" y="3444099"/>
            <a:ext cx="27321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2097"/>
              <a:buFont typeface="Tomorrow"/>
              <a:buNone/>
            </a:pPr>
            <a:r>
              <a:rPr i="0" lang="pt-BR" sz="2200" u="none" cap="none" strike="noStrike">
                <a:solidFill>
                  <a:srgbClr val="1D1D1B"/>
                </a:solidFill>
                <a:latin typeface="Roboto"/>
                <a:ea typeface="Roboto"/>
                <a:cs typeface="Roboto"/>
                <a:sym typeface="Roboto"/>
              </a:rPr>
              <a:t>Desafios e soluções</a:t>
            </a:r>
            <a:endParaRPr i="0" sz="220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0"/>
          <p:cNvSpPr/>
          <p:nvPr/>
        </p:nvSpPr>
        <p:spPr>
          <a:xfrm>
            <a:off x="5898313" y="3937500"/>
            <a:ext cx="5878500" cy="29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4237" lvl="0" marL="350766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900"/>
              <a:buFont typeface="Roboto"/>
              <a:buChar char="•"/>
            </a:pPr>
            <a:r>
              <a:rPr i="0" lang="pt-BR" sz="190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Escalonamento: balancear carga entre núcleos</a:t>
            </a:r>
            <a:endParaRPr i="0" sz="1900" u="none" cap="none" strike="noStrike">
              <a:latin typeface="Roboto"/>
              <a:ea typeface="Roboto"/>
              <a:cs typeface="Roboto"/>
              <a:sym typeface="Roboto"/>
            </a:endParaRPr>
          </a:p>
          <a:p>
            <a:pPr indent="-364237" lvl="0" marL="350766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900"/>
              <a:buFont typeface="Roboto"/>
              <a:buChar char="•"/>
            </a:pPr>
            <a:r>
              <a:rPr i="0" lang="pt-BR" sz="190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Sincronização: locks, semáforos, algoritmos lock-free</a:t>
            </a:r>
            <a:endParaRPr i="0" sz="1900" u="none" cap="none" strike="noStrike">
              <a:latin typeface="Roboto"/>
              <a:ea typeface="Roboto"/>
              <a:cs typeface="Roboto"/>
              <a:sym typeface="Roboto"/>
            </a:endParaRPr>
          </a:p>
          <a:p>
            <a:pPr indent="-364237" lvl="0" marL="350766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900"/>
              <a:buFont typeface="Roboto"/>
              <a:buChar char="•"/>
            </a:pPr>
            <a:r>
              <a:rPr i="0" lang="pt-BR" sz="190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Coerência de cache e comunicação entre núcleos</a:t>
            </a:r>
            <a:endParaRPr i="0" sz="1900" u="none" cap="none" strike="noStrike">
              <a:latin typeface="Roboto"/>
              <a:ea typeface="Roboto"/>
              <a:cs typeface="Roboto"/>
              <a:sym typeface="Roboto"/>
            </a:endParaRPr>
          </a:p>
          <a:p>
            <a:pPr indent="-364237" lvl="0" marL="350766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900"/>
              <a:buFont typeface="Roboto"/>
              <a:buChar char="•"/>
            </a:pPr>
            <a:r>
              <a:rPr i="0" lang="pt-BR" sz="190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Aplicações: servidores de alto desempenho, scientific computing</a:t>
            </a:r>
            <a:endParaRPr i="0" sz="190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Sistemas de Computadores Pessoais</a:t>
            </a:r>
            <a:endParaRPr/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0025" y="1831850"/>
            <a:ext cx="3372975" cy="46233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/>
          <p:nvPr/>
        </p:nvSpPr>
        <p:spPr>
          <a:xfrm>
            <a:off x="651501" y="2324100"/>
            <a:ext cx="69210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0" marR="0" rtl="0" algn="just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50"/>
              <a:buFont typeface="Tomorrow"/>
              <a:buNone/>
            </a:pPr>
            <a:r>
              <a:rPr i="0" lang="pt-BR" sz="200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Orientados a um único usuário com interface gráfica, suporte a multiprogramação e ampla compatibilidade de aplicações. Foco em usabilidade e suporte multimídia.</a:t>
            </a:r>
            <a:endParaRPr i="0" sz="200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1"/>
          <p:cNvSpPr/>
          <p:nvPr/>
        </p:nvSpPr>
        <p:spPr>
          <a:xfrm>
            <a:off x="651501" y="4352073"/>
            <a:ext cx="20538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800"/>
              <a:buFont typeface="Tomorrow"/>
              <a:buNone/>
            </a:pPr>
            <a:r>
              <a:rPr b="1" i="0" lang="pt-BR" sz="210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Windows</a:t>
            </a:r>
            <a:endParaRPr b="1" i="0" sz="210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11"/>
          <p:cNvSpPr/>
          <p:nvPr/>
        </p:nvSpPr>
        <p:spPr>
          <a:xfrm>
            <a:off x="651501" y="4734381"/>
            <a:ext cx="692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50"/>
              <a:buFont typeface="Tomorrow"/>
              <a:buNone/>
            </a:pPr>
            <a:r>
              <a:rPr i="0" lang="pt-BR" sz="175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Ampla compatibilidade com software de produtividade e jogos.</a:t>
            </a:r>
            <a:endParaRPr i="0" sz="175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1"/>
          <p:cNvSpPr/>
          <p:nvPr/>
        </p:nvSpPr>
        <p:spPr>
          <a:xfrm>
            <a:off x="651501" y="5086154"/>
            <a:ext cx="20538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800"/>
              <a:buFont typeface="Tomorrow"/>
              <a:buNone/>
            </a:pPr>
            <a:r>
              <a:rPr b="1" i="0" lang="pt-BR" sz="210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macOS</a:t>
            </a:r>
            <a:endParaRPr b="1" i="0" sz="210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651501" y="5468462"/>
            <a:ext cx="692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50"/>
              <a:buFont typeface="Tomorrow"/>
              <a:buNone/>
            </a:pPr>
            <a:r>
              <a:rPr i="0" lang="pt-BR" sz="175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Integração hardware-software e foco em experiência do usuário.</a:t>
            </a:r>
            <a:endParaRPr i="0" sz="175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1"/>
          <p:cNvSpPr/>
          <p:nvPr/>
        </p:nvSpPr>
        <p:spPr>
          <a:xfrm>
            <a:off x="651501" y="5801943"/>
            <a:ext cx="20538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800"/>
              <a:buFont typeface="Tomorrow"/>
              <a:buNone/>
            </a:pPr>
            <a:r>
              <a:rPr b="1" i="0" lang="pt-BR" sz="210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Linux</a:t>
            </a:r>
            <a:endParaRPr b="1" i="0" sz="210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1"/>
          <p:cNvSpPr/>
          <p:nvPr/>
        </p:nvSpPr>
        <p:spPr>
          <a:xfrm>
            <a:off x="651501" y="6184251"/>
            <a:ext cx="692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50"/>
              <a:buFont typeface="Tomorrow"/>
              <a:buNone/>
            </a:pPr>
            <a:r>
              <a:rPr i="0" lang="pt-BR" sz="175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Opção para power users e desenvolvimento; personalizável.</a:t>
            </a:r>
            <a:endParaRPr i="0" sz="175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Sistemas Operacionais Portáteis</a:t>
            </a:r>
            <a:endParaRPr/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33293" r="32253" t="0"/>
          <a:stretch/>
        </p:blipFill>
        <p:spPr>
          <a:xfrm>
            <a:off x="8406425" y="727375"/>
            <a:ext cx="3785574" cy="613062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2"/>
          <p:cNvSpPr/>
          <p:nvPr/>
        </p:nvSpPr>
        <p:spPr>
          <a:xfrm>
            <a:off x="605542" y="2066136"/>
            <a:ext cx="45429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3496"/>
              <a:buFont typeface="Tomorrow"/>
              <a:buNone/>
            </a:pPr>
            <a:r>
              <a:rPr i="0" lang="pt-BR" sz="3496" u="none" cap="none" strike="noStrike">
                <a:solidFill>
                  <a:srgbClr val="1D1D1B"/>
                </a:solidFill>
                <a:latin typeface="Roboto"/>
                <a:ea typeface="Roboto"/>
                <a:cs typeface="Roboto"/>
                <a:sym typeface="Roboto"/>
              </a:rPr>
              <a:t>Principais aspectos</a:t>
            </a:r>
            <a:endParaRPr i="0" sz="3496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605542" y="2975448"/>
            <a:ext cx="7264500" cy="3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559288" lvl="0" marL="584688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2413"/>
              <a:buFont typeface="Roboto"/>
              <a:buChar char="•"/>
            </a:pPr>
            <a:r>
              <a:rPr i="0" lang="pt-BR" sz="2413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Gerenciamento agressivo de energia</a:t>
            </a:r>
            <a:endParaRPr i="0" sz="2413" u="none" cap="none" strike="noStrike">
              <a:latin typeface="Roboto"/>
              <a:ea typeface="Roboto"/>
              <a:cs typeface="Roboto"/>
              <a:sym typeface="Roboto"/>
            </a:endParaRPr>
          </a:p>
          <a:p>
            <a:pPr indent="-559288" lvl="0" marL="584688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2413"/>
              <a:buFont typeface="Roboto"/>
              <a:buChar char="•"/>
            </a:pPr>
            <a:r>
              <a:rPr i="0" lang="pt-BR" sz="2413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API para sensores (GPS, acelerômetro, câmera)</a:t>
            </a:r>
            <a:endParaRPr i="0" sz="2413" u="none" cap="none" strike="noStrike">
              <a:latin typeface="Roboto"/>
              <a:ea typeface="Roboto"/>
              <a:cs typeface="Roboto"/>
              <a:sym typeface="Roboto"/>
            </a:endParaRPr>
          </a:p>
          <a:p>
            <a:pPr indent="-559288" lvl="0" marL="584688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2413"/>
              <a:buFont typeface="Roboto"/>
              <a:buChar char="•"/>
            </a:pPr>
            <a:r>
              <a:rPr i="0" lang="pt-BR" sz="2413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Segurança por permissões</a:t>
            </a:r>
            <a:endParaRPr i="0" sz="2413" u="none" cap="none" strike="noStrike">
              <a:latin typeface="Roboto"/>
              <a:ea typeface="Roboto"/>
              <a:cs typeface="Roboto"/>
              <a:sym typeface="Roboto"/>
            </a:endParaRPr>
          </a:p>
          <a:p>
            <a:pPr indent="-559288" lvl="0" marL="584688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2413"/>
              <a:buFont typeface="Roboto"/>
              <a:buChar char="•"/>
            </a:pPr>
            <a:r>
              <a:rPr i="0" lang="pt-BR" sz="2413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Exemplos: Android, iOS</a:t>
            </a:r>
            <a:endParaRPr i="0" sz="2413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2"/>
          <p:cNvSpPr/>
          <p:nvPr/>
        </p:nvSpPr>
        <p:spPr>
          <a:xfrm>
            <a:off x="605550" y="5572725"/>
            <a:ext cx="7800900" cy="10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50"/>
              <a:buFont typeface="Tomorrow"/>
              <a:buNone/>
            </a:pPr>
            <a:r>
              <a:rPr lang="pt-BR" sz="1800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Forte integração com hardware; Distribuição de aplicativos via lojas oficiais; Grande foco em segurança e sandboxing</a:t>
            </a:r>
            <a:endParaRPr i="0" sz="180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Sistemas Embarcados</a:t>
            </a:r>
            <a:endParaRPr/>
          </a:p>
        </p:txBody>
      </p:sp>
      <p:pic>
        <p:nvPicPr>
          <p:cNvPr id="121" name="Google Shape;12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938" y="3929349"/>
            <a:ext cx="1112147" cy="1392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1853" y="3929349"/>
            <a:ext cx="1112147" cy="1392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95332" y="3929349"/>
            <a:ext cx="1106530" cy="139299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/>
          <p:nvPr/>
        </p:nvSpPr>
        <p:spPr>
          <a:xfrm>
            <a:off x="1598634" y="3929353"/>
            <a:ext cx="26691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2200"/>
              <a:buFont typeface="Tomorrow"/>
              <a:buNone/>
            </a:pPr>
            <a:r>
              <a:rPr b="1" i="0" lang="pt-BR" sz="220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Aplicações domésticas</a:t>
            </a:r>
            <a:endParaRPr b="1" i="0" sz="220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1598634" y="4774101"/>
            <a:ext cx="26691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i="0" lang="pt-BR" sz="175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Micro-ondas, Smart TVs</a:t>
            </a:r>
            <a:r>
              <a:rPr lang="pt-BR" sz="1750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 r</a:t>
            </a:r>
            <a:r>
              <a:rPr i="0" lang="pt-BR" sz="175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esposta imediata e interface simples.</a:t>
            </a:r>
            <a:endParaRPr i="0" sz="175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5288948" y="3836291"/>
            <a:ext cx="26691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2200"/>
              <a:buFont typeface="Tomorrow"/>
              <a:buNone/>
            </a:pPr>
            <a:r>
              <a:rPr b="1" i="0" lang="pt-BR" sz="220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Automotivo</a:t>
            </a:r>
            <a:endParaRPr b="1" i="0" sz="220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5288948" y="4326709"/>
            <a:ext cx="26691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i="0" lang="pt-BR" sz="175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Controle de motor, infotainment; requisitos </a:t>
            </a:r>
            <a:endParaRPr i="0" sz="1750" u="none" cap="none" strike="noStrike">
              <a:solidFill>
                <a:srgbClr val="61615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i="0" lang="pt-BR" sz="175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de segurança críticos.</a:t>
            </a:r>
            <a:endParaRPr i="0" sz="175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13"/>
          <p:cNvSpPr/>
          <p:nvPr/>
        </p:nvSpPr>
        <p:spPr>
          <a:xfrm>
            <a:off x="9237906" y="3836303"/>
            <a:ext cx="2669100" cy="10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2200"/>
              <a:buFont typeface="Tomorrow"/>
              <a:buNone/>
            </a:pPr>
            <a:r>
              <a:rPr b="1" i="0" lang="pt-BR" sz="220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Sistemas embarcados sofisticados</a:t>
            </a:r>
            <a:endParaRPr b="1" i="0" sz="220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9237906" y="5035381"/>
            <a:ext cx="26691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i="0" lang="pt-BR" sz="175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Embedded Linux, QNX, VxWorks — quando é necessário mais flexibilidade.</a:t>
            </a:r>
            <a:endParaRPr i="0" sz="175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458999" y="2257350"/>
            <a:ext cx="112740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i="0" lang="pt-BR" sz="210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Executam em dispositivos dedicados com recursos limitados; software frequentemente armazenado em ROM/flash. Usuário normalmente não instala ou altera software.</a:t>
            </a:r>
            <a:endParaRPr i="0" sz="210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Sistemas de Nós Sensores</a:t>
            </a:r>
            <a:endParaRPr/>
          </a:p>
        </p:txBody>
      </p:sp>
      <p:pic>
        <p:nvPicPr>
          <p:cNvPr id="137" name="Google Shape;137;p14"/>
          <p:cNvPicPr preferRelativeResize="0"/>
          <p:nvPr/>
        </p:nvPicPr>
        <p:blipFill rotWithShape="1">
          <a:blip r:embed="rId3">
            <a:alphaModFix/>
          </a:blip>
          <a:srcRect b="13925" l="0" r="0" t="28913"/>
          <a:stretch/>
        </p:blipFill>
        <p:spPr>
          <a:xfrm>
            <a:off x="7490700" y="2410025"/>
            <a:ext cx="4148100" cy="355692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4"/>
          <p:cNvSpPr/>
          <p:nvPr/>
        </p:nvSpPr>
        <p:spPr>
          <a:xfrm>
            <a:off x="458999" y="2410025"/>
            <a:ext cx="65457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00"/>
              <a:buFont typeface="Tomorrow"/>
              <a:buNone/>
            </a:pPr>
            <a:r>
              <a:rPr i="0" lang="pt-BR" sz="220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Dispositivos muito pequenos e com bateria limitada, comunicando-se sem fio e orientados a eventos. Projetos priorizam baixo consumo e protocolos leves.</a:t>
            </a:r>
            <a:endParaRPr i="0" sz="220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458999" y="4603404"/>
            <a:ext cx="6545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00"/>
              <a:buFont typeface="Tomorrow"/>
              <a:buNone/>
            </a:pPr>
            <a:r>
              <a:rPr i="0" lang="pt-BR" sz="220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Uso: monitoramento ambiental, vigilância militar, agricultura de precisão. Exemplos de SO: TinyOS, Contiki — otimizados para energia e eventos.</a:t>
            </a:r>
            <a:endParaRPr i="0" sz="220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Sistemas de Tempo Real</a:t>
            </a:r>
            <a:endParaRPr/>
          </a:p>
        </p:txBody>
      </p:sp>
      <p:pic>
        <p:nvPicPr>
          <p:cNvPr id="146" name="Google Shape;14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8076" y="976900"/>
            <a:ext cx="3698775" cy="554817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/>
          <p:nvPr/>
        </p:nvSpPr>
        <p:spPr>
          <a:xfrm>
            <a:off x="459051" y="1925575"/>
            <a:ext cx="1161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987"/>
              <a:buFont typeface="Tomorrow"/>
              <a:buNone/>
            </a:pPr>
            <a:r>
              <a:rPr i="0" lang="pt-BR" sz="1987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i="0" sz="1987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459000" y="2328630"/>
            <a:ext cx="7726200" cy="348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103800" lIns="103800" spcFirstLastPara="1" rIns="103800" wrap="square" tIns="10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459000" y="2526508"/>
            <a:ext cx="2899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2498"/>
              <a:buFont typeface="Tomorrow"/>
              <a:buNone/>
            </a:pPr>
            <a:r>
              <a:rPr i="0" lang="pt-BR" sz="2498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Hard Real-Time</a:t>
            </a:r>
            <a:endParaRPr i="0" sz="2498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459000" y="3083247"/>
            <a:ext cx="77262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987"/>
              <a:buFont typeface="Tomorrow"/>
              <a:buNone/>
            </a:pPr>
            <a:r>
              <a:rPr i="0" lang="pt-BR" sz="1987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Falha ao perder prazo pode causar desastre (ex.: controle de voo, segurança)</a:t>
            </a:r>
            <a:endParaRPr i="0" sz="1987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459058" y="4357693"/>
            <a:ext cx="1302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987"/>
              <a:buFont typeface="Tomorrow"/>
              <a:buNone/>
            </a:pPr>
            <a:r>
              <a:rPr i="0" lang="pt-BR" sz="1987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i="0" sz="1987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459000" y="4760759"/>
            <a:ext cx="7726200" cy="348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103800" lIns="103800" spcFirstLastPara="1" rIns="103800" wrap="square" tIns="10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459000" y="4958639"/>
            <a:ext cx="2899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2498"/>
              <a:buFont typeface="Tomorrow"/>
              <a:buNone/>
            </a:pPr>
            <a:r>
              <a:rPr i="0" lang="pt-BR" sz="2498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Soft Real-Time</a:t>
            </a:r>
            <a:endParaRPr i="0" sz="2498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459000" y="5515376"/>
            <a:ext cx="77262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987"/>
              <a:buFont typeface="Tomorrow"/>
              <a:buNone/>
            </a:pPr>
            <a:r>
              <a:rPr i="0" lang="pt-BR" sz="1987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Degradação aceitável (ex.: streaming de mídia, interações multimídia)</a:t>
            </a:r>
            <a:endParaRPr i="0" sz="1987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Sistemas de Cartões Inteligentes</a:t>
            </a:r>
            <a:endParaRPr/>
          </a:p>
        </p:txBody>
      </p:sp>
      <p:pic>
        <p:nvPicPr>
          <p:cNvPr id="161" name="Google Shape;16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2450" y="3287415"/>
            <a:ext cx="5800550" cy="323742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/>
          <p:nvPr/>
        </p:nvSpPr>
        <p:spPr>
          <a:xfrm>
            <a:off x="459000" y="1946825"/>
            <a:ext cx="37269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2218"/>
              <a:buFont typeface="Tomorrow"/>
              <a:buNone/>
            </a:pPr>
            <a:r>
              <a:rPr i="0" lang="pt-BR" sz="2218" u="none" cap="none" strike="noStrike">
                <a:solidFill>
                  <a:srgbClr val="1D1D1B"/>
                </a:solidFill>
                <a:latin typeface="Roboto"/>
                <a:ea typeface="Roboto"/>
                <a:cs typeface="Roboto"/>
                <a:sym typeface="Roboto"/>
              </a:rPr>
              <a:t>Desafios e características</a:t>
            </a:r>
            <a:endParaRPr i="0" sz="2218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459000" y="2506732"/>
            <a:ext cx="5048700" cy="22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00329" lvl="0" marL="400329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810"/>
              <a:buFont typeface="Roboto"/>
              <a:buChar char="•"/>
            </a:pPr>
            <a:r>
              <a:rPr i="0" lang="pt-BR" sz="181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Recursos restritos → gerenciamento fino de memória</a:t>
            </a:r>
            <a:endParaRPr i="0" sz="1810" u="none" cap="none" strike="noStrike">
              <a:latin typeface="Roboto"/>
              <a:ea typeface="Roboto"/>
              <a:cs typeface="Roboto"/>
              <a:sym typeface="Roboto"/>
            </a:endParaRPr>
          </a:p>
          <a:p>
            <a:pPr indent="-400329" lvl="0" marL="400329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810"/>
              <a:buFont typeface="Roboto"/>
              <a:buChar char="•"/>
            </a:pPr>
            <a:r>
              <a:rPr i="0" lang="pt-BR" sz="181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Segurança: criptografia, autenticação e resistência a ataques físicos</a:t>
            </a:r>
            <a:endParaRPr i="0" sz="1810" u="none" cap="none" strike="noStrike">
              <a:latin typeface="Roboto"/>
              <a:ea typeface="Roboto"/>
              <a:cs typeface="Roboto"/>
              <a:sym typeface="Roboto"/>
            </a:endParaRPr>
          </a:p>
          <a:p>
            <a:pPr indent="-400329" lvl="0" marL="400329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810"/>
              <a:buFont typeface="Roboto"/>
              <a:buChar char="•"/>
            </a:pPr>
            <a:r>
              <a:rPr i="0" lang="pt-BR" sz="181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Multiprogramação limitada: isolamento por applets</a:t>
            </a:r>
            <a:endParaRPr i="0" sz="181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459000" y="4938738"/>
            <a:ext cx="5048700" cy="1586100"/>
          </a:xfrm>
          <a:prstGeom prst="roundRect">
            <a:avLst>
              <a:gd fmla="val 2177" name="adj"/>
            </a:avLst>
          </a:prstGeom>
          <a:solidFill>
            <a:srgbClr val="DADAD7"/>
          </a:solidFill>
          <a:ln>
            <a:noFill/>
          </a:ln>
        </p:spPr>
        <p:txBody>
          <a:bodyPr anchorCtr="0" anchor="ctr" bIns="106750" lIns="106750" spcFirstLastPara="1" rIns="106750" wrap="square" tIns="10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165" name="Google Shape;165;p16"/>
          <p:cNvSpPr/>
          <p:nvPr/>
        </p:nvSpPr>
        <p:spPr>
          <a:xfrm>
            <a:off x="689190" y="5283050"/>
            <a:ext cx="287736" cy="230190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16"/>
          <p:cNvSpPr/>
          <p:nvPr/>
        </p:nvSpPr>
        <p:spPr>
          <a:xfrm>
            <a:off x="1207117" y="5196451"/>
            <a:ext cx="4070400" cy="10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0"/>
              <a:buFont typeface="Tomorrow"/>
              <a:buNone/>
            </a:pPr>
            <a:r>
              <a:rPr i="0" lang="pt-BR" sz="181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Ao final: diferenciar tipos de SO, reconhecer aplicações e entender exigências de projeto.</a:t>
            </a:r>
            <a:endParaRPr i="0" sz="1810" u="none" cap="none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/>
              <a:t>O que é Git?</a:t>
            </a:r>
            <a:endParaRPr sz="2200"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pt-BR" sz="2200"/>
              <a:t>Sistema de controle de versão de arquivos.</a:t>
            </a:r>
            <a:endParaRPr sz="2200"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pt-BR" sz="2200"/>
              <a:t>Instalado no computador e utilizado via linha de comando.</a:t>
            </a:r>
            <a:endParaRPr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/>
              <a:t>O que o Git pode fazer?</a:t>
            </a:r>
            <a:endParaRPr sz="2200"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pt-BR" sz="2200"/>
              <a:t>Sincroniza com repositórios online, permitindo baixar e enviar código.</a:t>
            </a:r>
            <a:endParaRPr sz="2200"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pt-BR" sz="2200"/>
              <a:t>Registra versões do projeto, possibilitando acompanhar mudanças e restaurar versões anteriores.</a:t>
            </a:r>
            <a:endParaRPr sz="2200"/>
          </a:p>
        </p:txBody>
      </p:sp>
      <p:sp>
        <p:nvSpPr>
          <p:cNvPr id="173" name="Google Shape;173;p1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 ao Git</a:t>
            </a:r>
            <a:endParaRPr/>
          </a:p>
        </p:txBody>
      </p:sp>
      <p:pic>
        <p:nvPicPr>
          <p:cNvPr id="174" name="Google Shape;1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1550" y="791801"/>
            <a:ext cx="2395450" cy="272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7754375" y="3517898"/>
            <a:ext cx="568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Fonte: </a:t>
            </a:r>
            <a:r>
              <a:rPr b="1" lang="pt-BR" sz="1600" u="sng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https://github.com/torvalds</a:t>
            </a:r>
            <a:endParaRPr sz="1600">
              <a:solidFill>
                <a:srgbClr val="272F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6189375" y="6194998"/>
            <a:ext cx="568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r>
              <a:rPr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: Loeliger, J.; McCullough, M. (2021)</a:t>
            </a:r>
            <a:endParaRPr sz="1600">
              <a:solidFill>
                <a:srgbClr val="272F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Instalando o Git</a:t>
            </a:r>
            <a:endParaRPr/>
          </a:p>
        </p:txBody>
      </p:sp>
      <p:pic>
        <p:nvPicPr>
          <p:cNvPr id="183" name="Google Shape;1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0774" y="1697196"/>
            <a:ext cx="7910449" cy="469607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3251125" y="6393280"/>
            <a:ext cx="568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Fonte: </a:t>
            </a:r>
            <a:r>
              <a:rPr b="1" lang="pt-BR" sz="1600" u="sng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https://git-scm.com/downloads</a:t>
            </a:r>
            <a:endParaRPr sz="1600">
              <a:solidFill>
                <a:srgbClr val="272F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Escolha a versão do seu sistema operacional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Baixe e execute o instalador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Siga as etapas "Next &gt; Next &gt; Install"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Para testar a instalação: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Abra o Prompt de Comando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Digite git --version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Se aparecer a versão instalada, está correto</a:t>
            </a:r>
            <a:endParaRPr/>
          </a:p>
        </p:txBody>
      </p:sp>
      <p:sp>
        <p:nvSpPr>
          <p:cNvPr id="191" name="Google Shape;191;p1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Instalando o Git</a:t>
            </a:r>
            <a:endParaRPr/>
          </a:p>
        </p:txBody>
      </p:sp>
      <p:pic>
        <p:nvPicPr>
          <p:cNvPr id="192" name="Google Shape;1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4012" y="2778775"/>
            <a:ext cx="4154675" cy="325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7497000" y="6033550"/>
            <a:ext cx="45087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2450" lIns="72450" spcFirstLastPara="1" rIns="72450" wrap="square" tIns="724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68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Fonte: </a:t>
            </a:r>
            <a:r>
              <a:rPr lang="pt-BR" sz="1268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Elaboração própria.</a:t>
            </a:r>
            <a:endParaRPr sz="1268">
              <a:solidFill>
                <a:srgbClr val="272F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12750" lvl="0" marL="457200" rtl="0" algn="just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pt-BR" sz="2900"/>
              <a:t>Se solicitado, configure o usuário e e-mail no CMD com os comandos:</a:t>
            </a:r>
            <a:endParaRPr sz="2900"/>
          </a:p>
          <a:p>
            <a:pPr indent="-361950" lvl="1" marL="914400" rtl="0" algn="just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git config --global user.name "&lt;Nome&gt;"</a:t>
            </a:r>
            <a:endParaRPr sz="2100"/>
          </a:p>
          <a:p>
            <a:pPr indent="-361950" lvl="1" marL="914400" rtl="0" algn="just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git config --global user.email "&lt;Email&gt;"</a:t>
            </a:r>
            <a:endParaRPr sz="2100"/>
          </a:p>
          <a:p>
            <a:pPr indent="-412750" lvl="0" marL="457200" rtl="0" algn="just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pt-BR" sz="2900"/>
              <a:t>Abra o VS Code</a:t>
            </a:r>
            <a:endParaRPr sz="2900"/>
          </a:p>
          <a:p>
            <a:pPr indent="-412750" lvl="0" marL="457200" rtl="0" algn="just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pt-BR" sz="2900"/>
              <a:t>Vá até a aba de Controle de Código-Fonte (terceiro ícone à esquerda)</a:t>
            </a:r>
            <a:endParaRPr sz="2900"/>
          </a:p>
          <a:p>
            <a:pPr indent="-412750" lvl="0" marL="457200" rtl="0" algn="just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pt-BR" sz="2900"/>
              <a:t>Se solicitado, instale o Git</a:t>
            </a:r>
            <a:endParaRPr sz="2900"/>
          </a:p>
          <a:p>
            <a:pPr indent="-412750" lvl="0" marL="457200" rtl="0" algn="just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pt-BR" sz="2900"/>
              <a:t>Feche e reabra o VS Code</a:t>
            </a:r>
            <a:endParaRPr sz="2900"/>
          </a:p>
        </p:txBody>
      </p:sp>
      <p:sp>
        <p:nvSpPr>
          <p:cNvPr id="200" name="Google Shape;200;p2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Instalando o Git</a:t>
            </a:r>
            <a:endParaRPr/>
          </a:p>
        </p:txBody>
      </p:sp>
      <p:pic>
        <p:nvPicPr>
          <p:cNvPr id="201" name="Google Shape;201;p20"/>
          <p:cNvPicPr preferRelativeResize="0"/>
          <p:nvPr/>
        </p:nvPicPr>
        <p:blipFill rotWithShape="1">
          <a:blip r:embed="rId3">
            <a:alphaModFix/>
          </a:blip>
          <a:srcRect b="0" l="0" r="0" t="3503"/>
          <a:stretch/>
        </p:blipFill>
        <p:spPr>
          <a:xfrm>
            <a:off x="6710875" y="5086825"/>
            <a:ext cx="3940975" cy="112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5836450" y="6206898"/>
            <a:ext cx="568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Fonte: </a:t>
            </a:r>
            <a:r>
              <a:rPr lang="pt-BR" sz="1600">
                <a:solidFill>
                  <a:srgbClr val="272F6D"/>
                </a:solidFill>
                <a:latin typeface="Calibri"/>
                <a:ea typeface="Calibri"/>
                <a:cs typeface="Calibri"/>
                <a:sym typeface="Calibri"/>
              </a:rPr>
              <a:t>Elaboração própria.</a:t>
            </a:r>
            <a:endParaRPr sz="1600">
              <a:solidFill>
                <a:srgbClr val="272F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Crie uma pasta no seu computador</a:t>
            </a:r>
            <a:endParaRPr sz="2800"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Abra a pasta no VS Code</a:t>
            </a:r>
            <a:endParaRPr sz="2800"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Crie um arquivo .md</a:t>
            </a:r>
            <a:endParaRPr sz="2800"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Vá até a aba de Controle de Código-Fonte</a:t>
            </a:r>
            <a:endParaRPr sz="2800"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Clique em Inicializar Repositório</a:t>
            </a:r>
            <a:endParaRPr sz="2800"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Adicione uma mensagem de commit e clique em Confirmar (Commit)</a:t>
            </a:r>
            <a:endParaRPr sz="2800"/>
          </a:p>
          <a:p>
            <a:pPr indent="0" lvl="0" marL="457200" rtl="0" algn="just"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209" name="Google Shape;209;p2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Criando um Repositório no VS Code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Clique em Publicar Branch</a:t>
            </a:r>
            <a:endParaRPr sz="2600"/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Faça login no GitHub</a:t>
            </a:r>
            <a:endParaRPr sz="2600"/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Escolha entre repositório público ou privado</a:t>
            </a:r>
            <a:endParaRPr sz="2600"/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Após a publicação, o código estará acessível no GitHub</a:t>
            </a:r>
            <a:endParaRPr sz="2600"/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Acesse seu perfil no GitHub</a:t>
            </a:r>
            <a:endParaRPr sz="2600"/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Vá até "Repositórios"</a:t>
            </a:r>
            <a:endParaRPr sz="2600"/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Seu projeto deve estar listado</a:t>
            </a:r>
            <a:endParaRPr sz="2600"/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Clique no repositório e verifique os arquivos</a:t>
            </a:r>
            <a:endParaRPr sz="2600"/>
          </a:p>
        </p:txBody>
      </p:sp>
      <p:sp>
        <p:nvSpPr>
          <p:cNvPr id="216" name="Google Shape;216;p2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Publicando no GitHub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Commits pequenos e frequentes:</a:t>
            </a:r>
            <a:endParaRPr sz="28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Facilita a identificação de problemas e a reversão de mudanças.</a:t>
            </a:r>
            <a:endParaRPr sz="2000"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Mensagens de commit claras:</a:t>
            </a:r>
            <a:endParaRPr sz="28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Descreva o que foi alterado e por quê.</a:t>
            </a:r>
            <a:endParaRPr sz="20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Uso de branches:</a:t>
            </a:r>
            <a:endParaRPr sz="20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Mantenha a branch principal estável.</a:t>
            </a:r>
            <a:endParaRPr sz="20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Use branches para novas funcionalidades e correções.</a:t>
            </a:r>
            <a:endParaRPr sz="2000"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Testes automatizados:</a:t>
            </a:r>
            <a:endParaRPr sz="2800"/>
          </a:p>
          <a:p>
            <a:pPr indent="-355600" lvl="1" marL="914400" rtl="0" algn="just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Garanta que o código funcione corretamente antes de fazer merge.</a:t>
            </a:r>
            <a:endParaRPr sz="2800"/>
          </a:p>
        </p:txBody>
      </p:sp>
      <p:sp>
        <p:nvSpPr>
          <p:cNvPr id="223" name="Google Shape;223;p2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Boas Práticas Git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ct val="73913"/>
              <a:buNone/>
            </a:pPr>
            <a:r>
              <a:rPr b="1" lang="pt-BR" sz="4600"/>
              <a:t>Atividade</a:t>
            </a:r>
            <a:endParaRPr b="1" sz="4600"/>
          </a:p>
        </p:txBody>
      </p:sp>
      <p:sp>
        <p:nvSpPr>
          <p:cNvPr id="229" name="Google Shape;229;p2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pt-BR"/>
              <a:t>1. </a:t>
            </a:r>
            <a:r>
              <a:rPr lang="pt-BR"/>
              <a:t>No computador, deverá ser realizada a configuração de integração entre a IDE instalada no sistema operacional e a conta pessoal no GitHub, utilizando o Git como ferramenta de versionamento. O aluno deverá garantir que a autenticação esteja funcional e que a IDE reconheça corretamente o repositório remoto, permitindo operações de commit, push e pull.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ct val="73913"/>
              <a:buNone/>
            </a:pPr>
            <a:r>
              <a:rPr b="1" lang="pt-BR" sz="4600"/>
              <a:t>Atividade</a:t>
            </a:r>
            <a:endParaRPr b="1" sz="4600"/>
          </a:p>
        </p:txBody>
      </p:sp>
      <p:sp>
        <p:nvSpPr>
          <p:cNvPr id="235" name="Google Shape;235;p2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pt-BR"/>
              <a:t>2. Em seguida, deverá ser criado um repositório de teste contendo ao menos um arquivo inicial do projeto. Após realizar alterações no arquivo, execute commit e sincronize com o GitHub. Depois, apague a pasta local do projeto no computador e utilize o comando git clone para clonar novamente o repositório remoto. Por fim, valide se o projeto foi restaurado corretamente.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ct val="73913"/>
              <a:buNone/>
            </a:pPr>
            <a:r>
              <a:rPr b="1" lang="pt-BR" sz="4600"/>
              <a:t>Atividade</a:t>
            </a:r>
            <a:endParaRPr b="1" sz="4600"/>
          </a:p>
        </p:txBody>
      </p:sp>
      <p:sp>
        <p:nvSpPr>
          <p:cNvPr id="241" name="Google Shape;241;p2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pt-BR"/>
              <a:t>3. Por fim, realize uma pesquisa no Github e encontre 5 projetos de outros usuários. Utilizem o comando git clone para copiar os projetos nas máquinas pessoais e analisem o conteúdo contido em cada repositório.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48" name="Google Shape;248;p27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TANENBAUM, Andrew S.; BOS, Herbert. Sistemas Operacionais Modernos. 4. ed. São Paulo: Pearson, 2016.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SILBERSCHATZ, Abraham; GALVIN, Peter B.; GAGNE, Greg. Fundamentos de Sistemas Operacionais. 9. ed. Rio de Janeiro: LTC, 2015.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STALLINGS, William. Sistemas Operacionais: Conceitos e Projetos. 8. ed. São Paulo: Pearson, 2015.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DENARDIN, G. W.; BARRIQUELLO, C. H. Sistemas Operacionais de Tempo Real e sua Aplicação em Sistemas Embarcados. Porto Alegre: Editora da UFRGS, 2014.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AWASTHI, A.; RAWAT, V. Ramificação e Tarefas do Sistema Operacional. Edições Nosso Conhecimento, 2023.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DOWNEY, Allen B. Think OS: A Brief Introduction to Operating Systems. Green Tea Press, 2015.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RED HAT. Red Hat Enterprise Linux – System Administration Guide. Documentação Oficial.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DOCKER INC. Docker Documentation. Documentação Oficial. Disponível em: https://docs.docker.com</a:t>
            </a:r>
            <a:endParaRPr sz="204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8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>
                <a:solidFill>
                  <a:srgbClr val="202529"/>
                </a:solidFill>
              </a:rPr>
              <a:t>Conceitos, Funções e Tipos de Sistemas Operacionais</a:t>
            </a:r>
            <a:endParaRPr sz="4500">
              <a:solidFill>
                <a:srgbClr val="202529"/>
              </a:solidFill>
            </a:endParaRPr>
          </a:p>
        </p:txBody>
      </p:sp>
      <p:sp>
        <p:nvSpPr>
          <p:cNvPr id="255" name="Google Shape;255;p28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Banded_Design_Teal">
      <a:dk1>
        <a:srgbClr val="363D3D"/>
      </a:dk1>
      <a:lt1>
        <a:srgbClr val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